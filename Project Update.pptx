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60" r:id="rId6"/>
    <p:sldId id="271" r:id="rId7"/>
    <p:sldId id="261" r:id="rId8"/>
    <p:sldId id="262" r:id="rId9"/>
    <p:sldId id="263" r:id="rId10"/>
    <p:sldId id="265" r:id="rId11"/>
    <p:sldId id="264" r:id="rId12"/>
    <p:sldId id="266" r:id="rId13"/>
    <p:sldId id="267" r:id="rId14"/>
    <p:sldId id="268" r:id="rId15"/>
    <p:sldId id="270" r:id="rId16"/>
    <p:sldId id="259"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76820" autoAdjust="0"/>
  </p:normalViewPr>
  <p:slideViewPr>
    <p:cSldViewPr snapToGrid="0">
      <p:cViewPr varScale="1">
        <p:scale>
          <a:sx n="55" d="100"/>
          <a:sy n="55" d="100"/>
        </p:scale>
        <p:origin x="14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3D718-C19D-4B1E-A2CB-7F19C2859E05}" type="datetimeFigureOut">
              <a:rPr lang="en-CA" smtClean="0"/>
              <a:t>2026-09-24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6DF3B-0394-40EE-84F0-A68C14771755}" type="slidenum">
              <a:rPr lang="en-CA" smtClean="0"/>
              <a:t>‹#›</a:t>
            </a:fld>
            <a:endParaRPr lang="en-CA"/>
          </a:p>
        </p:txBody>
      </p:sp>
    </p:spTree>
    <p:extLst>
      <p:ext uri="{BB962C8B-B14F-4D97-AF65-F5344CB8AC3E}">
        <p14:creationId xmlns:p14="http://schemas.microsoft.com/office/powerpoint/2010/main" val="3924592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Structural and functional long-range connections only partly overlap. EDR+LR's advantage is in reconstructing functional long-range FC, not in matching it pair for pair.</a:t>
            </a:r>
          </a:p>
          <a:p>
            <a:endParaRPr lang="en-CA" dirty="0"/>
          </a:p>
        </p:txBody>
      </p:sp>
      <p:sp>
        <p:nvSpPr>
          <p:cNvPr id="4" name="Slide Number Placeholder 3"/>
          <p:cNvSpPr>
            <a:spLocks noGrp="1"/>
          </p:cNvSpPr>
          <p:nvPr>
            <p:ph type="sldNum" sz="quarter" idx="5"/>
          </p:nvPr>
        </p:nvSpPr>
        <p:spPr/>
        <p:txBody>
          <a:bodyPr/>
          <a:lstStyle/>
          <a:p>
            <a:fld id="{7986DF3B-0394-40EE-84F0-A68C14771755}" type="slidenum">
              <a:rPr lang="en-CA" smtClean="0"/>
              <a:t>3</a:t>
            </a:fld>
            <a:endParaRPr lang="en-CA"/>
          </a:p>
        </p:txBody>
      </p:sp>
    </p:spTree>
    <p:extLst>
      <p:ext uri="{BB962C8B-B14F-4D97-AF65-F5344CB8AC3E}">
        <p14:creationId xmlns:p14="http://schemas.microsoft.com/office/powerpoint/2010/main" val="2255020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986DF3B-0394-40EE-84F0-A68C14771755}" type="slidenum">
              <a:rPr lang="en-CA" smtClean="0"/>
              <a:t>4</a:t>
            </a:fld>
            <a:endParaRPr lang="en-CA"/>
          </a:p>
        </p:txBody>
      </p:sp>
    </p:spTree>
    <p:extLst>
      <p:ext uri="{BB962C8B-B14F-4D97-AF65-F5344CB8AC3E}">
        <p14:creationId xmlns:p14="http://schemas.microsoft.com/office/powerpoint/2010/main" val="93041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Basically, </a:t>
            </a:r>
            <a:r>
              <a:rPr lang="en-US" dirty="0"/>
              <a:t>how many modes are needed to reconstruct task activity?</a:t>
            </a:r>
          </a:p>
          <a:p>
            <a:endParaRPr lang="en-US" dirty="0"/>
          </a:p>
          <a:p>
            <a:r>
              <a:rPr lang="en-US" dirty="0"/>
              <a:t>Each of the four mode sets used to reconstruct brain activation maps for seven example tasks, one from each HCP task domain. </a:t>
            </a:r>
          </a:p>
          <a:p>
            <a:endParaRPr lang="en-US" dirty="0"/>
          </a:p>
          <a:p>
            <a:r>
              <a:rPr lang="en-US" dirty="0"/>
              <a:t>The top row shows the reconstruction error as more modes are added. The first, smoothest modes give the largest improvements, and after about 20 modes each extra mode adds very little (the "elbow"). So a small number of large-scale patterns captures most of the structure of task activity, which is why Panel B compares the mode sets using only the first 20 modes.</a:t>
            </a:r>
            <a:endParaRPr lang="en-CA" dirty="0"/>
          </a:p>
        </p:txBody>
      </p:sp>
      <p:sp>
        <p:nvSpPr>
          <p:cNvPr id="4" name="Slide Number Placeholder 3"/>
          <p:cNvSpPr>
            <a:spLocks noGrp="1"/>
          </p:cNvSpPr>
          <p:nvPr>
            <p:ph type="sldNum" sz="quarter" idx="5"/>
          </p:nvPr>
        </p:nvSpPr>
        <p:spPr/>
        <p:txBody>
          <a:bodyPr/>
          <a:lstStyle/>
          <a:p>
            <a:fld id="{7986DF3B-0394-40EE-84F0-A68C14771755}" type="slidenum">
              <a:rPr lang="en-CA" smtClean="0"/>
              <a:t>5</a:t>
            </a:fld>
            <a:endParaRPr lang="en-CA"/>
          </a:p>
        </p:txBody>
      </p:sp>
    </p:spTree>
    <p:extLst>
      <p:ext uri="{BB962C8B-B14F-4D97-AF65-F5344CB8AC3E}">
        <p14:creationId xmlns:p14="http://schemas.microsoft.com/office/powerpoint/2010/main" val="2741676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figure is Figure 3B of the article. It </a:t>
            </a:r>
            <a:r>
              <a:rPr lang="en-US" dirty="0"/>
              <a:t>shows, task by task and mode by mode, whether the connectome-based modes or the geometry-based modes rebuild task activity better, and then averages that over all tasks.</a:t>
            </a:r>
          </a:p>
          <a:p>
            <a:endParaRPr lang="en-US" dirty="0"/>
          </a:p>
          <a:p>
            <a:r>
              <a:rPr lang="en-US" dirty="0"/>
              <a:t>Blue (negative) means the EDR modes rebuilt that task better than Geometry did. </a:t>
            </a:r>
          </a:p>
          <a:p>
            <a:r>
              <a:rPr lang="en-US" dirty="0"/>
              <a:t>Red (positive) means Geometry did better. </a:t>
            </a:r>
          </a:p>
          <a:p>
            <a:r>
              <a:rPr lang="en-US" dirty="0"/>
              <a:t>White means they contributing the same amount.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bottom bar chart is the average of one column over all 47 tasks. </a:t>
            </a:r>
          </a:p>
        </p:txBody>
      </p:sp>
      <p:sp>
        <p:nvSpPr>
          <p:cNvPr id="4" name="Slide Number Placeholder 3"/>
          <p:cNvSpPr>
            <a:spLocks noGrp="1"/>
          </p:cNvSpPr>
          <p:nvPr>
            <p:ph type="sldNum" sz="quarter" idx="5"/>
          </p:nvPr>
        </p:nvSpPr>
        <p:spPr/>
        <p:txBody>
          <a:bodyPr/>
          <a:lstStyle/>
          <a:p>
            <a:fld id="{7986DF3B-0394-40EE-84F0-A68C14771755}" type="slidenum">
              <a:rPr lang="en-CA" smtClean="0"/>
              <a:t>6</a:t>
            </a:fld>
            <a:endParaRPr lang="en-CA"/>
          </a:p>
        </p:txBody>
      </p:sp>
    </p:spTree>
    <p:extLst>
      <p:ext uri="{BB962C8B-B14F-4D97-AF65-F5344CB8AC3E}">
        <p14:creationId xmlns:p14="http://schemas.microsoft.com/office/powerpoint/2010/main" val="4188456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986DF3B-0394-40EE-84F0-A68C14771755}" type="slidenum">
              <a:rPr lang="en-CA" smtClean="0"/>
              <a:t>9</a:t>
            </a:fld>
            <a:endParaRPr lang="en-CA"/>
          </a:p>
        </p:txBody>
      </p:sp>
    </p:spTree>
    <p:extLst>
      <p:ext uri="{BB962C8B-B14F-4D97-AF65-F5344CB8AC3E}">
        <p14:creationId xmlns:p14="http://schemas.microsoft.com/office/powerpoint/2010/main" val="788588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986DF3B-0394-40EE-84F0-A68C14771755}" type="slidenum">
              <a:rPr lang="en-CA" smtClean="0"/>
              <a:t>13</a:t>
            </a:fld>
            <a:endParaRPr lang="en-CA"/>
          </a:p>
        </p:txBody>
      </p:sp>
    </p:spTree>
    <p:extLst>
      <p:ext uri="{BB962C8B-B14F-4D97-AF65-F5344CB8AC3E}">
        <p14:creationId xmlns:p14="http://schemas.microsoft.com/office/powerpoint/2010/main" val="1124922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2344-672F-2BA2-5624-8F256AF8DC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1747E9A-3819-22A6-D801-C88498B4E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AE8945A-0EDC-9ED2-9B77-2F5C16C44E59}"/>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A21B4BE5-5FD3-A837-8920-855360887A1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1DC09E9-C5C3-21BF-64F0-E307131BB0D4}"/>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1073037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86D5-8FE8-EC8F-DCF1-5746390D81B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7A749DD-7827-0BD1-67D6-3BB47E3078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1E62C4A-BEA0-4891-916C-64CDF2E1285C}"/>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86C8C76C-72C2-7680-2E68-810D82F2A70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A00CDE7-1BE8-DE38-9266-A59D7C6FEE6F}"/>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3995767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88D00-BB6B-F60B-76F6-9538D46EDB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90F0D98-A0EA-1D46-6987-4A7D379E1D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09B2A7-8C3A-2BE6-7389-D626FB889E76}"/>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11E8B57C-65A4-AE9C-CD05-4F33D59866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5244D5F-2D4F-91D8-B42E-FB0DEEBB2DE7}"/>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1127295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A91A-7896-33C5-DE88-160016056AE0}"/>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DEAD8BC-460F-BD1A-D2E3-754112F76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BA80B31-00EE-5FCE-92F6-403F4EEA25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AFA31F3-8513-857A-DD9C-A1027F42B306}"/>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6" name="Footer Placeholder 5">
            <a:extLst>
              <a:ext uri="{FF2B5EF4-FFF2-40B4-BE49-F238E27FC236}">
                <a16:creationId xmlns:a16="http://schemas.microsoft.com/office/drawing/2014/main" id="{48E0FEC8-92BB-0D09-9C7A-268148F81B9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4602E57-20F6-E624-6C68-01867BAF0390}"/>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1336981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26BBB-0A20-0D3A-B8CF-9C0B3C7E64C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831CE1D-3F1F-8DF8-0B26-53840F85F2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4B2AE-5169-9818-EF93-4D80D5BDE6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BBCC0AE-7565-56DC-BCBB-5A9B2BBC1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9EC853-F132-3765-6300-992ADDDC06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1C108E4-C135-B499-63B5-C2B134D3E568}"/>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8" name="Footer Placeholder 7">
            <a:extLst>
              <a:ext uri="{FF2B5EF4-FFF2-40B4-BE49-F238E27FC236}">
                <a16:creationId xmlns:a16="http://schemas.microsoft.com/office/drawing/2014/main" id="{9663A35B-8C50-230E-477C-C741491A74A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F7195CB3-21CA-4072-7C8C-4AF82B320CD1}"/>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1516114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1C3E7-B527-C530-1ED8-7C66E33FAB2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278D1C3C-9C53-A909-6F2B-F292B8C92BCE}"/>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4" name="Footer Placeholder 3">
            <a:extLst>
              <a:ext uri="{FF2B5EF4-FFF2-40B4-BE49-F238E27FC236}">
                <a16:creationId xmlns:a16="http://schemas.microsoft.com/office/drawing/2014/main" id="{D80C4C8F-0D4E-673F-9C45-4E7FC8E3211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ED3A239-343C-0D21-E258-08B766F6AB64}"/>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885048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54C5AE-1C2B-944C-98E4-DEA548BF94F2}"/>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3" name="Footer Placeholder 2">
            <a:extLst>
              <a:ext uri="{FF2B5EF4-FFF2-40B4-BE49-F238E27FC236}">
                <a16:creationId xmlns:a16="http://schemas.microsoft.com/office/drawing/2014/main" id="{030F97E4-2942-D91D-89D2-5FEE41A4DFE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44F5458-0D99-C343-42C4-061A799D10AC}"/>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397253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8D86-0056-BC7E-F7C0-35A07E453B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3F8F255-76C6-AAB2-41A6-688EB302B5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31A9653-F5A1-8F6C-3612-752036383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285CF7-54CF-9311-EA97-346D6E7B9CC3}"/>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6" name="Footer Placeholder 5">
            <a:extLst>
              <a:ext uri="{FF2B5EF4-FFF2-40B4-BE49-F238E27FC236}">
                <a16:creationId xmlns:a16="http://schemas.microsoft.com/office/drawing/2014/main" id="{AA53CD13-6029-817B-9388-0F6C3FC5559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FC5AE7-E01B-F444-4004-4DA7DE3C3B31}"/>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3313684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D4B8F-D7EA-A80C-7C4C-494F2AF8B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A066F0C-12B9-CE49-3BA0-E2C1CF705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68F25F1-CE5B-95B6-B65C-638399D8DE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7A13CC-3476-05F3-1C65-F693BABAA229}"/>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6" name="Footer Placeholder 5">
            <a:extLst>
              <a:ext uri="{FF2B5EF4-FFF2-40B4-BE49-F238E27FC236}">
                <a16:creationId xmlns:a16="http://schemas.microsoft.com/office/drawing/2014/main" id="{C956B05E-E45E-59F3-A96C-044711C54BE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9B28633-7A8A-5E2A-680C-5F97959163DD}"/>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1518803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2BCB5-16CA-C280-25A4-68D53E8F8EE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62F9BE2-A330-ECDA-9D61-1AC123D489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4783FC9-17F1-2ADD-4AB3-70C5EEA04716}"/>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F70D3A44-8FD1-00ED-2365-0C1C0EAB1D8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F17EFB-6443-BF13-3E4C-1203F054DE59}"/>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208554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47D8E8-81D7-9CD4-D447-A9334E1065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CBF8BC3-3627-4A01-3512-F99B5F50F9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27E2262-B1B3-BFAB-A1FF-1F1B577F084F}"/>
              </a:ext>
            </a:extLst>
          </p:cNvPr>
          <p:cNvSpPr>
            <a:spLocks noGrp="1"/>
          </p:cNvSpPr>
          <p:nvPr>
            <p:ph type="dt" sz="half" idx="10"/>
          </p:nvPr>
        </p:nvSpPr>
        <p:spPr/>
        <p:txBody>
          <a:body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2E8957EE-0860-2DD0-2249-A0A57BE6F7C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D233AD-285D-EBA5-24C5-68EA865751B8}"/>
              </a:ext>
            </a:extLst>
          </p:cNvPr>
          <p:cNvSpPr>
            <a:spLocks noGrp="1"/>
          </p:cNvSpPr>
          <p:nvPr>
            <p:ph type="sldNum" sz="quarter" idx="12"/>
          </p:nvPr>
        </p:nvSpPr>
        <p:spPr/>
        <p:txBody>
          <a:bodyPr/>
          <a:lstStyle/>
          <a:p>
            <a:fld id="{9F75AC89-4A27-424D-A1EE-2798A1D756DA}" type="slidenum">
              <a:rPr lang="en-CA" smtClean="0"/>
              <a:t>‹#›</a:t>
            </a:fld>
            <a:endParaRPr lang="en-CA"/>
          </a:p>
        </p:txBody>
      </p:sp>
    </p:spTree>
    <p:extLst>
      <p:ext uri="{BB962C8B-B14F-4D97-AF65-F5344CB8AC3E}">
        <p14:creationId xmlns:p14="http://schemas.microsoft.com/office/powerpoint/2010/main" val="37862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D933FD-D953-0899-BE0A-8F9BF0376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70CF5C4-0BEB-A358-A0F7-B1A00E1631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F304D26-B24F-BFA6-7FC2-28A719F740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135A00-A7E3-42E2-AADA-4F70A8D1B336}" type="datetimeFigureOut">
              <a:rPr lang="en-CA" smtClean="0"/>
              <a:t>2026-09-24</a:t>
            </a:fld>
            <a:endParaRPr lang="en-CA"/>
          </a:p>
        </p:txBody>
      </p:sp>
      <p:sp>
        <p:nvSpPr>
          <p:cNvPr id="5" name="Footer Placeholder 4">
            <a:extLst>
              <a:ext uri="{FF2B5EF4-FFF2-40B4-BE49-F238E27FC236}">
                <a16:creationId xmlns:a16="http://schemas.microsoft.com/office/drawing/2014/main" id="{BB379179-7E43-28E1-F74C-4414EA2FC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8EB9F20-01F5-A70A-9186-F22F93EA4F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75AC89-4A27-424D-A1EE-2798A1D756DA}" type="slidenum">
              <a:rPr lang="en-CA" smtClean="0"/>
              <a:t>‹#›</a:t>
            </a:fld>
            <a:endParaRPr lang="en-CA"/>
          </a:p>
        </p:txBody>
      </p:sp>
    </p:spTree>
    <p:extLst>
      <p:ext uri="{BB962C8B-B14F-4D97-AF65-F5344CB8AC3E}">
        <p14:creationId xmlns:p14="http://schemas.microsoft.com/office/powerpoint/2010/main" val="3638322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0A950-AB95-7956-C1C8-467DAD1B5F4D}"/>
              </a:ext>
            </a:extLst>
          </p:cNvPr>
          <p:cNvSpPr>
            <a:spLocks noGrp="1"/>
          </p:cNvSpPr>
          <p:nvPr>
            <p:ph type="ctrTitle"/>
          </p:nvPr>
        </p:nvSpPr>
        <p:spPr/>
        <p:txBody>
          <a:bodyPr/>
          <a:lstStyle/>
          <a:p>
            <a:r>
              <a:rPr lang="en-CA" dirty="0"/>
              <a:t>Project Update</a:t>
            </a:r>
          </a:p>
        </p:txBody>
      </p:sp>
      <p:sp>
        <p:nvSpPr>
          <p:cNvPr id="3" name="Subtitle 2">
            <a:extLst>
              <a:ext uri="{FF2B5EF4-FFF2-40B4-BE49-F238E27FC236}">
                <a16:creationId xmlns:a16="http://schemas.microsoft.com/office/drawing/2014/main" id="{9815FF2D-66FF-2453-662C-EF7ECC0575FC}"/>
              </a:ext>
            </a:extLst>
          </p:cNvPr>
          <p:cNvSpPr>
            <a:spLocks noGrp="1"/>
          </p:cNvSpPr>
          <p:nvPr>
            <p:ph type="subTitle" idx="1"/>
          </p:nvPr>
        </p:nvSpPr>
        <p:spPr/>
        <p:txBody>
          <a:bodyPr/>
          <a:lstStyle/>
          <a:p>
            <a:r>
              <a:rPr lang="en-CA" dirty="0"/>
              <a:t>09/24/2026</a:t>
            </a:r>
          </a:p>
          <a:p>
            <a:r>
              <a:rPr lang="en-CA" dirty="0"/>
              <a:t>NEUR 4995</a:t>
            </a:r>
          </a:p>
        </p:txBody>
      </p:sp>
    </p:spTree>
    <p:extLst>
      <p:ext uri="{BB962C8B-B14F-4D97-AF65-F5344CB8AC3E}">
        <p14:creationId xmlns:p14="http://schemas.microsoft.com/office/powerpoint/2010/main" val="64750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48C7DB-D972-DC69-C8DA-A5C6180F94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5903" y="638154"/>
            <a:ext cx="6864761" cy="6219846"/>
          </a:xfrm>
          <a:prstGeom prst="rect">
            <a:avLst/>
          </a:prstGeom>
        </p:spPr>
      </p:pic>
      <p:sp>
        <p:nvSpPr>
          <p:cNvPr id="3" name="TextBox 2">
            <a:extLst>
              <a:ext uri="{FF2B5EF4-FFF2-40B4-BE49-F238E27FC236}">
                <a16:creationId xmlns:a16="http://schemas.microsoft.com/office/drawing/2014/main" id="{907E3515-6C2F-2B43-C100-C1859B072934}"/>
              </a:ext>
            </a:extLst>
          </p:cNvPr>
          <p:cNvSpPr txBox="1"/>
          <p:nvPr/>
        </p:nvSpPr>
        <p:spPr>
          <a:xfrm>
            <a:off x="2046155" y="0"/>
            <a:ext cx="7749942" cy="707886"/>
          </a:xfrm>
          <a:prstGeom prst="rect">
            <a:avLst/>
          </a:prstGeom>
          <a:noFill/>
        </p:spPr>
        <p:txBody>
          <a:bodyPr wrap="none" rtlCol="0">
            <a:spAutoFit/>
          </a:bodyPr>
          <a:lstStyle/>
          <a:p>
            <a:r>
              <a:rPr lang="en-CA" sz="4000" b="1" dirty="0"/>
              <a:t>Structural Connectivity Matrices</a:t>
            </a:r>
          </a:p>
        </p:txBody>
      </p:sp>
    </p:spTree>
    <p:extLst>
      <p:ext uri="{BB962C8B-B14F-4D97-AF65-F5344CB8AC3E}">
        <p14:creationId xmlns:p14="http://schemas.microsoft.com/office/powerpoint/2010/main" val="424425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29EDA-F44A-9F8D-E9E0-D2E8A08EF3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038F9E-3FE3-296A-29B4-F742C670A87B}"/>
              </a:ext>
            </a:extLst>
          </p:cNvPr>
          <p:cNvSpPr txBox="1"/>
          <p:nvPr/>
        </p:nvSpPr>
        <p:spPr>
          <a:xfrm>
            <a:off x="2046155" y="0"/>
            <a:ext cx="8001549" cy="707886"/>
          </a:xfrm>
          <a:prstGeom prst="rect">
            <a:avLst/>
          </a:prstGeom>
          <a:noFill/>
        </p:spPr>
        <p:txBody>
          <a:bodyPr wrap="none" rtlCol="0">
            <a:spAutoFit/>
          </a:bodyPr>
          <a:lstStyle/>
          <a:p>
            <a:r>
              <a:rPr lang="en-CA" sz="4000" b="1" dirty="0"/>
              <a:t>Functional Connectivity Matrices</a:t>
            </a:r>
          </a:p>
        </p:txBody>
      </p:sp>
      <p:pic>
        <p:nvPicPr>
          <p:cNvPr id="6" name="Picture 5">
            <a:extLst>
              <a:ext uri="{FF2B5EF4-FFF2-40B4-BE49-F238E27FC236}">
                <a16:creationId xmlns:a16="http://schemas.microsoft.com/office/drawing/2014/main" id="{43FA8675-F7F2-1724-ACD9-678B42F9C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7354" y="591356"/>
            <a:ext cx="6831336" cy="6228255"/>
          </a:xfrm>
          <a:prstGeom prst="rect">
            <a:avLst/>
          </a:prstGeom>
        </p:spPr>
      </p:pic>
    </p:spTree>
    <p:extLst>
      <p:ext uri="{BB962C8B-B14F-4D97-AF65-F5344CB8AC3E}">
        <p14:creationId xmlns:p14="http://schemas.microsoft.com/office/powerpoint/2010/main" val="3679176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aper_figure2_authors_own_plot.png">
            <a:extLst>
              <a:ext uri="{FF2B5EF4-FFF2-40B4-BE49-F238E27FC236}">
                <a16:creationId xmlns:a16="http://schemas.microsoft.com/office/drawing/2014/main" id="{770F8314-CDE0-DD0E-3D84-D90F1FCFF0C4}"/>
              </a:ext>
            </a:extLst>
          </p:cNvPr>
          <p:cNvPicPr>
            <a:picLocks noChangeAspect="1"/>
          </p:cNvPicPr>
          <p:nvPr/>
        </p:nvPicPr>
        <p:blipFill>
          <a:blip r:embed="rId3"/>
          <a:stretch>
            <a:fillRect/>
          </a:stretch>
        </p:blipFill>
        <p:spPr>
          <a:xfrm>
            <a:off x="-11585" y="906527"/>
            <a:ext cx="5977968" cy="5835056"/>
          </a:xfrm>
          <a:prstGeom prst="rect">
            <a:avLst/>
          </a:prstGeom>
        </p:spPr>
      </p:pic>
      <p:sp>
        <p:nvSpPr>
          <p:cNvPr id="2" name="Title 1">
            <a:extLst>
              <a:ext uri="{FF2B5EF4-FFF2-40B4-BE49-F238E27FC236}">
                <a16:creationId xmlns:a16="http://schemas.microsoft.com/office/drawing/2014/main" id="{2351261C-1711-F463-B2C5-791779885BDC}"/>
              </a:ext>
            </a:extLst>
          </p:cNvPr>
          <p:cNvSpPr>
            <a:spLocks noGrp="1"/>
          </p:cNvSpPr>
          <p:nvPr>
            <p:ph type="title"/>
          </p:nvPr>
        </p:nvSpPr>
        <p:spPr>
          <a:xfrm>
            <a:off x="2392279" y="0"/>
            <a:ext cx="7407442" cy="469616"/>
          </a:xfrm>
        </p:spPr>
        <p:txBody>
          <a:bodyPr>
            <a:normAutofit fontScale="90000"/>
          </a:bodyPr>
          <a:lstStyle/>
          <a:p>
            <a:pPr algn="ctr"/>
            <a:r>
              <a:rPr lang="en-CA" b="1" dirty="0">
                <a:latin typeface="+mn-lt"/>
              </a:rPr>
              <a:t>Long-Range FC Reconstruction</a:t>
            </a:r>
            <a:endParaRPr lang="en-CA" dirty="0">
              <a:latin typeface="+mn-lt"/>
            </a:endParaRPr>
          </a:p>
        </p:txBody>
      </p:sp>
      <p:sp>
        <p:nvSpPr>
          <p:cNvPr id="9" name="TextBox 8">
            <a:extLst>
              <a:ext uri="{FF2B5EF4-FFF2-40B4-BE49-F238E27FC236}">
                <a16:creationId xmlns:a16="http://schemas.microsoft.com/office/drawing/2014/main" id="{4664BB89-FADD-A641-0EDC-094A36B122C2}"/>
              </a:ext>
            </a:extLst>
          </p:cNvPr>
          <p:cNvSpPr txBox="1"/>
          <p:nvPr/>
        </p:nvSpPr>
        <p:spPr>
          <a:xfrm>
            <a:off x="2133601" y="567973"/>
            <a:ext cx="7956884" cy="338554"/>
          </a:xfrm>
          <a:prstGeom prst="rect">
            <a:avLst/>
          </a:prstGeom>
          <a:noFill/>
        </p:spPr>
        <p:txBody>
          <a:bodyPr wrap="square">
            <a:spAutoFit/>
          </a:bodyPr>
          <a:lstStyle/>
          <a:p>
            <a:pPr algn="l"/>
            <a:r>
              <a:rPr lang="en-US" sz="1600" b="1" dirty="0"/>
              <a:t>MSE of reconstructed long-range functional-connectivity edges vs. number of modes</a:t>
            </a:r>
          </a:p>
        </p:txBody>
      </p:sp>
      <p:pic>
        <p:nvPicPr>
          <p:cNvPr id="4" name="Picture 3">
            <a:extLst>
              <a:ext uri="{FF2B5EF4-FFF2-40B4-BE49-F238E27FC236}">
                <a16:creationId xmlns:a16="http://schemas.microsoft.com/office/drawing/2014/main" id="{150E5AF8-3F63-4519-D089-644C32A08BF6}"/>
              </a:ext>
            </a:extLst>
          </p:cNvPr>
          <p:cNvPicPr>
            <a:picLocks noChangeAspect="1"/>
          </p:cNvPicPr>
          <p:nvPr/>
        </p:nvPicPr>
        <p:blipFill>
          <a:blip r:embed="rId4"/>
          <a:stretch>
            <a:fillRect/>
          </a:stretch>
        </p:blipFill>
        <p:spPr>
          <a:xfrm>
            <a:off x="6093995" y="906528"/>
            <a:ext cx="6079139" cy="5951472"/>
          </a:xfrm>
          <a:prstGeom prst="rect">
            <a:avLst/>
          </a:prstGeom>
        </p:spPr>
      </p:pic>
    </p:spTree>
    <p:extLst>
      <p:ext uri="{BB962C8B-B14F-4D97-AF65-F5344CB8AC3E}">
        <p14:creationId xmlns:p14="http://schemas.microsoft.com/office/powerpoint/2010/main" val="1541717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71F7A0-BC46-2F0C-975F-1BCFA2E80B82}"/>
              </a:ext>
            </a:extLst>
          </p:cNvPr>
          <p:cNvSpPr>
            <a:spLocks noGrp="1"/>
          </p:cNvSpPr>
          <p:nvPr>
            <p:ph type="title"/>
          </p:nvPr>
        </p:nvSpPr>
        <p:spPr>
          <a:xfrm>
            <a:off x="1005008" y="0"/>
            <a:ext cx="10178934" cy="748147"/>
          </a:xfrm>
        </p:spPr>
        <p:txBody>
          <a:bodyPr vert="horz" lIns="91440" tIns="45720" rIns="91440" bIns="45720" rtlCol="0" anchor="b">
            <a:normAutofit fontScale="90000"/>
          </a:bodyPr>
          <a:lstStyle/>
          <a:p>
            <a:pPr algn="ctr"/>
            <a:r>
              <a:rPr lang="en-US" sz="5200" b="1" kern="1200" dirty="0">
                <a:solidFill>
                  <a:schemeClr val="tx1"/>
                </a:solidFill>
                <a:latin typeface="+mj-lt"/>
                <a:ea typeface="+mj-ea"/>
                <a:cs typeface="+mj-cs"/>
              </a:rPr>
              <a:t>Task-Activity Reconstruction</a:t>
            </a:r>
            <a:endParaRPr lang="en-US" sz="5200" kern="1200" dirty="0">
              <a:solidFill>
                <a:schemeClr val="tx1"/>
              </a:solidFill>
              <a:latin typeface="+mj-lt"/>
              <a:ea typeface="+mj-ea"/>
              <a:cs typeface="+mj-cs"/>
            </a:endParaRPr>
          </a:p>
        </p:txBody>
      </p:sp>
      <p:pic>
        <p:nvPicPr>
          <p:cNvPr id="5" name="Picture 4" descr="paper_figure3A_authors_own_plot.png">
            <a:extLst>
              <a:ext uri="{FF2B5EF4-FFF2-40B4-BE49-F238E27FC236}">
                <a16:creationId xmlns:a16="http://schemas.microsoft.com/office/drawing/2014/main" id="{290CB2FD-CA4E-85AF-15D9-B550D8CC994F}"/>
              </a:ext>
            </a:extLst>
          </p:cNvPr>
          <p:cNvPicPr>
            <a:picLocks noChangeAspect="1"/>
          </p:cNvPicPr>
          <p:nvPr/>
        </p:nvPicPr>
        <p:blipFill>
          <a:blip r:embed="rId3"/>
          <a:srcRect t="1" r="-867" b="3"/>
          <a:stretch>
            <a:fillRect/>
          </a:stretch>
        </p:blipFill>
        <p:spPr>
          <a:xfrm>
            <a:off x="0" y="748148"/>
            <a:ext cx="5954738" cy="3792887"/>
          </a:xfrm>
          <a:prstGeom prst="rect">
            <a:avLst/>
          </a:prstGeom>
        </p:spPr>
      </p:pic>
      <p:pic>
        <p:nvPicPr>
          <p:cNvPr id="7" name="Picture 6" descr="our_figure3A_replication.png">
            <a:extLst>
              <a:ext uri="{FF2B5EF4-FFF2-40B4-BE49-F238E27FC236}">
                <a16:creationId xmlns:a16="http://schemas.microsoft.com/office/drawing/2014/main" id="{9173C8E5-C92C-5C34-F97B-181F689905E0}"/>
              </a:ext>
            </a:extLst>
          </p:cNvPr>
          <p:cNvPicPr>
            <a:picLocks noChangeAspect="1"/>
          </p:cNvPicPr>
          <p:nvPr/>
        </p:nvPicPr>
        <p:blipFill>
          <a:blip r:embed="rId4"/>
          <a:srcRect r="293"/>
          <a:stretch>
            <a:fillRect/>
          </a:stretch>
        </p:blipFill>
        <p:spPr>
          <a:xfrm>
            <a:off x="5954738" y="2963902"/>
            <a:ext cx="6237262" cy="3894098"/>
          </a:xfrm>
          <a:prstGeom prst="rect">
            <a:avLst/>
          </a:prstGeom>
        </p:spPr>
      </p:pic>
      <p:sp>
        <p:nvSpPr>
          <p:cNvPr id="9" name="TextBox 8">
            <a:extLst>
              <a:ext uri="{FF2B5EF4-FFF2-40B4-BE49-F238E27FC236}">
                <a16:creationId xmlns:a16="http://schemas.microsoft.com/office/drawing/2014/main" id="{17999131-A00B-7084-3AA5-2FAF35F7F2C0}"/>
              </a:ext>
            </a:extLst>
          </p:cNvPr>
          <p:cNvSpPr txBox="1"/>
          <p:nvPr/>
        </p:nvSpPr>
        <p:spPr>
          <a:xfrm>
            <a:off x="1292993" y="5027573"/>
            <a:ext cx="4032985" cy="523220"/>
          </a:xfrm>
          <a:prstGeom prst="rect">
            <a:avLst/>
          </a:prstGeom>
          <a:noFill/>
        </p:spPr>
        <p:txBody>
          <a:bodyPr wrap="square">
            <a:spAutoFit/>
          </a:bodyPr>
          <a:lstStyle/>
          <a:p>
            <a:pPr algn="ctr"/>
            <a:r>
              <a:rPr sz="1400" b="1" dirty="0">
                <a:latin typeface="Cambria"/>
              </a:rPr>
              <a:t>Our replication — same 7 tasks, same statistic, full vertex resolution</a:t>
            </a:r>
          </a:p>
        </p:txBody>
      </p:sp>
      <p:cxnSp>
        <p:nvCxnSpPr>
          <p:cNvPr id="11" name="Connector: Curved 10">
            <a:extLst>
              <a:ext uri="{FF2B5EF4-FFF2-40B4-BE49-F238E27FC236}">
                <a16:creationId xmlns:a16="http://schemas.microsoft.com/office/drawing/2014/main" id="{EC5B390C-A286-A8D4-B74F-D8A25CB2290F}"/>
              </a:ext>
            </a:extLst>
          </p:cNvPr>
          <p:cNvCxnSpPr>
            <a:stCxn id="9" idx="2"/>
          </p:cNvCxnSpPr>
          <p:nvPr/>
        </p:nvCxnSpPr>
        <p:spPr>
          <a:xfrm rot="16200000" flipH="1">
            <a:off x="4352583" y="4507696"/>
            <a:ext cx="559059" cy="2645252"/>
          </a:xfrm>
          <a:prstGeom prst="curved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9454127-3F09-8C4E-420B-2B826FC85D53}"/>
              </a:ext>
            </a:extLst>
          </p:cNvPr>
          <p:cNvSpPr txBox="1"/>
          <p:nvPr/>
        </p:nvSpPr>
        <p:spPr>
          <a:xfrm>
            <a:off x="6237264" y="616592"/>
            <a:ext cx="5531409" cy="584775"/>
          </a:xfrm>
          <a:prstGeom prst="rect">
            <a:avLst/>
          </a:prstGeom>
          <a:noFill/>
        </p:spPr>
        <p:txBody>
          <a:bodyPr wrap="square">
            <a:spAutoFit/>
          </a:bodyPr>
          <a:lstStyle/>
          <a:p>
            <a:pPr algn="ctr"/>
            <a:r>
              <a:rPr lang="en-US" sz="1600" dirty="0"/>
              <a:t>Reconstruction accuracy vs. number of modes, by structural graph type</a:t>
            </a:r>
          </a:p>
        </p:txBody>
      </p:sp>
      <p:sp>
        <p:nvSpPr>
          <p:cNvPr id="16" name="TextBox 15">
            <a:extLst>
              <a:ext uri="{FF2B5EF4-FFF2-40B4-BE49-F238E27FC236}">
                <a16:creationId xmlns:a16="http://schemas.microsoft.com/office/drawing/2014/main" id="{22F8565B-2458-DA87-0160-E2ADC4EF0B11}"/>
              </a:ext>
            </a:extLst>
          </p:cNvPr>
          <p:cNvSpPr txBox="1"/>
          <p:nvPr/>
        </p:nvSpPr>
        <p:spPr>
          <a:xfrm>
            <a:off x="6609347" y="1272002"/>
            <a:ext cx="3978442" cy="523220"/>
          </a:xfrm>
          <a:prstGeom prst="rect">
            <a:avLst/>
          </a:prstGeom>
          <a:noFill/>
        </p:spPr>
        <p:txBody>
          <a:bodyPr wrap="square">
            <a:spAutoFit/>
          </a:bodyPr>
          <a:lstStyle/>
          <a:p>
            <a:pPr algn="ctr"/>
            <a:r>
              <a:rPr lang="en-US" sz="1400" b="1" dirty="0">
                <a:latin typeface="Cambria"/>
              </a:rPr>
              <a:t>Paper — 7 representative tasks, authors' own code + own precomputed data</a:t>
            </a:r>
          </a:p>
        </p:txBody>
      </p:sp>
      <p:cxnSp>
        <p:nvCxnSpPr>
          <p:cNvPr id="18" name="Connector: Curved 17">
            <a:extLst>
              <a:ext uri="{FF2B5EF4-FFF2-40B4-BE49-F238E27FC236}">
                <a16:creationId xmlns:a16="http://schemas.microsoft.com/office/drawing/2014/main" id="{D71E77D1-3D46-AA67-D0A1-695A7BF6AF6A}"/>
              </a:ext>
            </a:extLst>
          </p:cNvPr>
          <p:cNvCxnSpPr>
            <a:stCxn id="16" idx="2"/>
          </p:cNvCxnSpPr>
          <p:nvPr/>
        </p:nvCxnSpPr>
        <p:spPr>
          <a:xfrm rot="5400000">
            <a:off x="7123506" y="626454"/>
            <a:ext cx="306294" cy="2643830"/>
          </a:xfrm>
          <a:prstGeom prst="curved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345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184299-74A8-504C-054F-7FE8D81FA328}"/>
              </a:ext>
            </a:extLst>
          </p:cNvPr>
          <p:cNvSpPr>
            <a:spLocks noGrp="1"/>
          </p:cNvSpPr>
          <p:nvPr>
            <p:ph type="title"/>
          </p:nvPr>
        </p:nvSpPr>
        <p:spPr>
          <a:xfrm>
            <a:off x="1463262" y="69163"/>
            <a:ext cx="9082116" cy="581359"/>
          </a:xfrm>
        </p:spPr>
        <p:txBody>
          <a:bodyPr vert="horz" lIns="91440" tIns="45720" rIns="91440" bIns="45720" rtlCol="0" anchor="ctr">
            <a:normAutofit fontScale="90000"/>
          </a:bodyPr>
          <a:lstStyle/>
          <a:p>
            <a:pPr algn="ctr"/>
            <a:r>
              <a:rPr lang="en-US" sz="5200" b="1" kern="1200" dirty="0">
                <a:solidFill>
                  <a:schemeClr val="tx1"/>
                </a:solidFill>
                <a:latin typeface="+mj-lt"/>
                <a:ea typeface="+mj-ea"/>
                <a:cs typeface="+mj-cs"/>
              </a:rPr>
              <a:t>Per-Task Advantage over Geometry</a:t>
            </a:r>
            <a:endParaRPr lang="en-US" sz="5200" kern="1200" dirty="0">
              <a:solidFill>
                <a:schemeClr val="tx1"/>
              </a:solidFill>
              <a:latin typeface="+mj-lt"/>
              <a:ea typeface="+mj-ea"/>
              <a:cs typeface="+mj-cs"/>
            </a:endParaRPr>
          </a:p>
        </p:txBody>
      </p:sp>
      <p:pic>
        <p:nvPicPr>
          <p:cNvPr id="5" name="Picture 4" descr="paper_figure3B_authors_own_plot.png">
            <a:extLst>
              <a:ext uri="{FF2B5EF4-FFF2-40B4-BE49-F238E27FC236}">
                <a16:creationId xmlns:a16="http://schemas.microsoft.com/office/drawing/2014/main" id="{C9C8AB7E-DA5B-C5D4-ABAB-668C53873900}"/>
              </a:ext>
            </a:extLst>
          </p:cNvPr>
          <p:cNvPicPr>
            <a:picLocks noChangeAspect="1"/>
          </p:cNvPicPr>
          <p:nvPr/>
        </p:nvPicPr>
        <p:blipFill>
          <a:blip r:embed="rId3"/>
          <a:stretch>
            <a:fillRect/>
          </a:stretch>
        </p:blipFill>
        <p:spPr>
          <a:xfrm>
            <a:off x="176060" y="1171630"/>
            <a:ext cx="5584372" cy="5086914"/>
          </a:xfrm>
          <a:prstGeom prst="rect">
            <a:avLst/>
          </a:prstGeom>
        </p:spPr>
      </p:pic>
      <p:sp>
        <p:nvSpPr>
          <p:cNvPr id="9" name="TextBox 8">
            <a:extLst>
              <a:ext uri="{FF2B5EF4-FFF2-40B4-BE49-F238E27FC236}">
                <a16:creationId xmlns:a16="http://schemas.microsoft.com/office/drawing/2014/main" id="{7B35F552-4C06-888B-8737-713801135B64}"/>
              </a:ext>
            </a:extLst>
          </p:cNvPr>
          <p:cNvSpPr txBox="1"/>
          <p:nvPr/>
        </p:nvSpPr>
        <p:spPr>
          <a:xfrm>
            <a:off x="3134505" y="618665"/>
            <a:ext cx="6096000" cy="338554"/>
          </a:xfrm>
          <a:prstGeom prst="rect">
            <a:avLst/>
          </a:prstGeom>
          <a:noFill/>
        </p:spPr>
        <p:txBody>
          <a:bodyPr wrap="square">
            <a:spAutoFit/>
          </a:bodyPr>
          <a:lstStyle/>
          <a:p>
            <a:pPr algn="l"/>
            <a:r>
              <a:rPr lang="en-US" sz="1600" b="1" dirty="0"/>
              <a:t>MSE relative to Geometry, per task and averaged, N≤20 modes</a:t>
            </a:r>
          </a:p>
        </p:txBody>
      </p:sp>
      <p:sp>
        <p:nvSpPr>
          <p:cNvPr id="11" name="TextBox 10">
            <a:extLst>
              <a:ext uri="{FF2B5EF4-FFF2-40B4-BE49-F238E27FC236}">
                <a16:creationId xmlns:a16="http://schemas.microsoft.com/office/drawing/2014/main" id="{7BA89C83-316C-4BD1-709B-073933185CD9}"/>
              </a:ext>
            </a:extLst>
          </p:cNvPr>
          <p:cNvSpPr txBox="1"/>
          <p:nvPr/>
        </p:nvSpPr>
        <p:spPr>
          <a:xfrm>
            <a:off x="6471265" y="6377681"/>
            <a:ext cx="5250739" cy="307777"/>
          </a:xfrm>
          <a:prstGeom prst="rect">
            <a:avLst/>
          </a:prstGeom>
          <a:noFill/>
        </p:spPr>
        <p:txBody>
          <a:bodyPr wrap="square">
            <a:spAutoFit/>
          </a:bodyPr>
          <a:lstStyle/>
          <a:p>
            <a:pPr algn="ctr"/>
            <a:r>
              <a:rPr lang="en-US" sz="1400" b="1" dirty="0">
                <a:latin typeface="Cambria"/>
              </a:rPr>
              <a:t>Our replication — same statistic, full vertex resolution</a:t>
            </a:r>
          </a:p>
        </p:txBody>
      </p:sp>
      <p:sp>
        <p:nvSpPr>
          <p:cNvPr id="14" name="TextBox 13">
            <a:extLst>
              <a:ext uri="{FF2B5EF4-FFF2-40B4-BE49-F238E27FC236}">
                <a16:creationId xmlns:a16="http://schemas.microsoft.com/office/drawing/2014/main" id="{59EE0D29-0821-8E44-BE58-0719E7230295}"/>
              </a:ext>
            </a:extLst>
          </p:cNvPr>
          <p:cNvSpPr txBox="1"/>
          <p:nvPr/>
        </p:nvSpPr>
        <p:spPr>
          <a:xfrm>
            <a:off x="214440" y="6404383"/>
            <a:ext cx="6096000" cy="307777"/>
          </a:xfrm>
          <a:prstGeom prst="rect">
            <a:avLst/>
          </a:prstGeom>
          <a:noFill/>
        </p:spPr>
        <p:txBody>
          <a:bodyPr wrap="square">
            <a:spAutoFit/>
          </a:bodyPr>
          <a:lstStyle/>
          <a:p>
            <a:pPr algn="ctr"/>
            <a:r>
              <a:rPr lang="en-US" sz="1400" b="1" dirty="0">
                <a:latin typeface="Cambria"/>
              </a:rPr>
              <a:t>Paper — authors' own code + own precomputed data</a:t>
            </a:r>
          </a:p>
        </p:txBody>
      </p:sp>
      <p:pic>
        <p:nvPicPr>
          <p:cNvPr id="4" name="Picture 3">
            <a:extLst>
              <a:ext uri="{FF2B5EF4-FFF2-40B4-BE49-F238E27FC236}">
                <a16:creationId xmlns:a16="http://schemas.microsoft.com/office/drawing/2014/main" id="{82DC8905-2FBB-17B2-5FE3-58F0730942E7}"/>
              </a:ext>
            </a:extLst>
          </p:cNvPr>
          <p:cNvPicPr>
            <a:picLocks noChangeAspect="1"/>
          </p:cNvPicPr>
          <p:nvPr/>
        </p:nvPicPr>
        <p:blipFill>
          <a:blip r:embed="rId4"/>
          <a:stretch>
            <a:fillRect/>
          </a:stretch>
        </p:blipFill>
        <p:spPr>
          <a:xfrm>
            <a:off x="5760433" y="1200024"/>
            <a:ext cx="6428517" cy="5058519"/>
          </a:xfrm>
          <a:prstGeom prst="rect">
            <a:avLst/>
          </a:prstGeom>
        </p:spPr>
      </p:pic>
    </p:spTree>
    <p:extLst>
      <p:ext uri="{BB962C8B-B14F-4D97-AF65-F5344CB8AC3E}">
        <p14:creationId xmlns:p14="http://schemas.microsoft.com/office/powerpoint/2010/main" val="173524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1C16FA-0FCC-CFA6-7636-74C6551AD0B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E8D147F-203F-6C09-E936-75A802BF7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9018BE-B766-F920-6289-B806AB8E3A67}"/>
              </a:ext>
            </a:extLst>
          </p:cNvPr>
          <p:cNvSpPr>
            <a:spLocks noGrp="1"/>
          </p:cNvSpPr>
          <p:nvPr>
            <p:ph type="title"/>
          </p:nvPr>
        </p:nvSpPr>
        <p:spPr>
          <a:xfrm>
            <a:off x="1463262" y="69163"/>
            <a:ext cx="9082116" cy="581359"/>
          </a:xfrm>
        </p:spPr>
        <p:txBody>
          <a:bodyPr vert="horz" lIns="91440" tIns="45720" rIns="91440" bIns="45720" rtlCol="0" anchor="ctr">
            <a:normAutofit fontScale="90000"/>
          </a:bodyPr>
          <a:lstStyle/>
          <a:p>
            <a:pPr algn="ctr"/>
            <a:r>
              <a:rPr lang="en-US" sz="5200" b="1" kern="1200" dirty="0">
                <a:solidFill>
                  <a:schemeClr val="tx1"/>
                </a:solidFill>
                <a:latin typeface="+mj-lt"/>
                <a:ea typeface="+mj-ea"/>
                <a:cs typeface="+mj-cs"/>
              </a:rPr>
              <a:t>Per-Task Advantage over Geometry</a:t>
            </a:r>
            <a:endParaRPr lang="en-US" sz="5200" kern="1200" dirty="0">
              <a:solidFill>
                <a:schemeClr val="tx1"/>
              </a:solidFill>
              <a:latin typeface="+mj-lt"/>
              <a:ea typeface="+mj-ea"/>
              <a:cs typeface="+mj-cs"/>
            </a:endParaRPr>
          </a:p>
        </p:txBody>
      </p:sp>
      <p:graphicFrame>
        <p:nvGraphicFramePr>
          <p:cNvPr id="6" name="Table 5">
            <a:extLst>
              <a:ext uri="{FF2B5EF4-FFF2-40B4-BE49-F238E27FC236}">
                <a16:creationId xmlns:a16="http://schemas.microsoft.com/office/drawing/2014/main" id="{B277B907-0BFB-E37D-4301-20CA901189E6}"/>
              </a:ext>
            </a:extLst>
          </p:cNvPr>
          <p:cNvGraphicFramePr>
            <a:graphicFrameLocks noGrp="1"/>
          </p:cNvGraphicFramePr>
          <p:nvPr>
            <p:extLst>
              <p:ext uri="{D42A27DB-BD31-4B8C-83A1-F6EECF244321}">
                <p14:modId xmlns:p14="http://schemas.microsoft.com/office/powerpoint/2010/main" val="3929866327"/>
              </p:ext>
            </p:extLst>
          </p:nvPr>
        </p:nvGraphicFramePr>
        <p:xfrm>
          <a:off x="154233" y="1370849"/>
          <a:ext cx="11880484" cy="3439088"/>
        </p:xfrm>
        <a:graphic>
          <a:graphicData uri="http://schemas.openxmlformats.org/drawingml/2006/table">
            <a:tbl>
              <a:tblPr firstRow="1" bandRow="1">
                <a:tableStyleId>{5C22544A-7EE6-4342-B048-85BDC9FD1C3A}</a:tableStyleId>
              </a:tblPr>
              <a:tblGrid>
                <a:gridCol w="2970121">
                  <a:extLst>
                    <a:ext uri="{9D8B030D-6E8A-4147-A177-3AD203B41FA5}">
                      <a16:colId xmlns:a16="http://schemas.microsoft.com/office/drawing/2014/main" val="20000"/>
                    </a:ext>
                  </a:extLst>
                </a:gridCol>
                <a:gridCol w="2970121">
                  <a:extLst>
                    <a:ext uri="{9D8B030D-6E8A-4147-A177-3AD203B41FA5}">
                      <a16:colId xmlns:a16="http://schemas.microsoft.com/office/drawing/2014/main" val="20001"/>
                    </a:ext>
                  </a:extLst>
                </a:gridCol>
                <a:gridCol w="2970121">
                  <a:extLst>
                    <a:ext uri="{9D8B030D-6E8A-4147-A177-3AD203B41FA5}">
                      <a16:colId xmlns:a16="http://schemas.microsoft.com/office/drawing/2014/main" val="20002"/>
                    </a:ext>
                  </a:extLst>
                </a:gridCol>
                <a:gridCol w="2970121">
                  <a:extLst>
                    <a:ext uri="{9D8B030D-6E8A-4147-A177-3AD203B41FA5}">
                      <a16:colId xmlns:a16="http://schemas.microsoft.com/office/drawing/2014/main" val="20003"/>
                    </a:ext>
                  </a:extLst>
                </a:gridCol>
              </a:tblGrid>
              <a:tr h="429886">
                <a:tc>
                  <a:txBody>
                    <a:bodyPr/>
                    <a:lstStyle/>
                    <a:p>
                      <a:pPr algn="l"/>
                      <a:r>
                        <a:rPr sz="1700" b="1" dirty="0">
                          <a:solidFill>
                            <a:srgbClr val="FFFFFF"/>
                          </a:solidFill>
                          <a:latin typeface="Calibri"/>
                        </a:rPr>
                        <a:t>Task</a:t>
                      </a:r>
                    </a:p>
                  </a:txBody>
                  <a:tcPr marL="100046" marR="100046" marT="50023" marB="50023" anchor="ctr">
                    <a:solidFill>
                      <a:srgbClr val="1E2761"/>
                    </a:solidFill>
                  </a:tcPr>
                </a:tc>
                <a:tc>
                  <a:txBody>
                    <a:bodyPr/>
                    <a:lstStyle/>
                    <a:p>
                      <a:pPr algn="ctr"/>
                      <a:r>
                        <a:rPr sz="1700" b="1">
                          <a:solidFill>
                            <a:srgbClr val="FFFFFF"/>
                          </a:solidFill>
                          <a:latin typeface="Calibri"/>
                        </a:rPr>
                        <a:t>Author's MSE</a:t>
                      </a:r>
                    </a:p>
                  </a:txBody>
                  <a:tcPr marL="100046" marR="100046" marT="50023" marB="50023" anchor="ctr">
                    <a:solidFill>
                      <a:srgbClr val="1E2761"/>
                    </a:solidFill>
                  </a:tcPr>
                </a:tc>
                <a:tc>
                  <a:txBody>
                    <a:bodyPr/>
                    <a:lstStyle/>
                    <a:p>
                      <a:pPr algn="ctr"/>
                      <a:r>
                        <a:rPr sz="1700" b="1" dirty="0">
                          <a:solidFill>
                            <a:srgbClr val="FFFFFF"/>
                          </a:solidFill>
                          <a:latin typeface="Calibri"/>
                        </a:rPr>
                        <a:t>Our MSE</a:t>
                      </a:r>
                    </a:p>
                  </a:txBody>
                  <a:tcPr marL="100046" marR="100046" marT="50023" marB="50023" anchor="ctr">
                    <a:solidFill>
                      <a:srgbClr val="1E2761"/>
                    </a:solidFill>
                  </a:tcPr>
                </a:tc>
                <a:tc>
                  <a:txBody>
                    <a:bodyPr/>
                    <a:lstStyle/>
                    <a:p>
                      <a:pPr algn="ctr"/>
                      <a:r>
                        <a:rPr sz="1700" b="1" dirty="0">
                          <a:solidFill>
                            <a:srgbClr val="FFFFFF"/>
                          </a:solidFill>
                          <a:latin typeface="Calibri"/>
                        </a:rPr>
                        <a:t>Difference</a:t>
                      </a:r>
                    </a:p>
                  </a:txBody>
                  <a:tcPr marL="100046" marR="100046" marT="50023" marB="50023" anchor="ctr">
                    <a:solidFill>
                      <a:srgbClr val="1E2761"/>
                    </a:solidFill>
                  </a:tcPr>
                </a:tc>
                <a:extLst>
                  <a:ext uri="{0D108BD9-81ED-4DB2-BD59-A6C34878D82A}">
                    <a16:rowId xmlns:a16="http://schemas.microsoft.com/office/drawing/2014/main" val="10000"/>
                  </a:ext>
                </a:extLst>
              </a:tr>
              <a:tr h="429886">
                <a:tc>
                  <a:txBody>
                    <a:bodyPr/>
                    <a:lstStyle/>
                    <a:p>
                      <a:pPr algn="l"/>
                      <a:r>
                        <a:rPr sz="1700">
                          <a:solidFill>
                            <a:srgbClr val="333333"/>
                          </a:solidFill>
                          <a:latin typeface="Calibri"/>
                        </a:rPr>
                        <a:t>social_tom_random</a:t>
                      </a:r>
                    </a:p>
                  </a:txBody>
                  <a:tcPr marL="100046" marR="100046" marT="50023" marB="50023" anchor="ctr">
                    <a:solidFill>
                      <a:srgbClr val="FFFFFF"/>
                    </a:solidFill>
                  </a:tcPr>
                </a:tc>
                <a:tc>
                  <a:txBody>
                    <a:bodyPr/>
                    <a:lstStyle/>
                    <a:p>
                      <a:pPr algn="ctr"/>
                      <a:r>
                        <a:rPr sz="1700">
                          <a:solidFill>
                            <a:srgbClr val="333333"/>
                          </a:solidFill>
                          <a:latin typeface="Calibri"/>
                        </a:rPr>
                        <a:t>0.45921</a:t>
                      </a:r>
                    </a:p>
                  </a:txBody>
                  <a:tcPr marL="100046" marR="100046" marT="50023" marB="50023" anchor="ctr">
                    <a:solidFill>
                      <a:srgbClr val="FFFFFF"/>
                    </a:solidFill>
                  </a:tcPr>
                </a:tc>
                <a:tc>
                  <a:txBody>
                    <a:bodyPr/>
                    <a:lstStyle/>
                    <a:p>
                      <a:pPr algn="ctr"/>
                      <a:r>
                        <a:rPr sz="1700">
                          <a:solidFill>
                            <a:srgbClr val="333333"/>
                          </a:solidFill>
                          <a:latin typeface="Calibri"/>
                        </a:rPr>
                        <a:t>0.45921</a:t>
                      </a:r>
                    </a:p>
                  </a:txBody>
                  <a:tcPr marL="100046" marR="100046" marT="50023" marB="50023" anchor="ctr">
                    <a:solidFill>
                      <a:srgbClr val="FFFFFF"/>
                    </a:solidFill>
                  </a:tcPr>
                </a:tc>
                <a:tc>
                  <a:txBody>
                    <a:bodyPr/>
                    <a:lstStyle/>
                    <a:p>
                      <a:pPr algn="ctr"/>
                      <a:r>
                        <a:rPr sz="1700">
                          <a:solidFill>
                            <a:srgbClr val="333333"/>
                          </a:solidFill>
                          <a:latin typeface="Calibri"/>
                        </a:rPr>
                        <a:t>+0.00%</a:t>
                      </a:r>
                    </a:p>
                  </a:txBody>
                  <a:tcPr marL="100046" marR="100046" marT="50023" marB="50023" anchor="ctr">
                    <a:solidFill>
                      <a:srgbClr val="FFFFFF"/>
                    </a:solidFill>
                  </a:tcPr>
                </a:tc>
                <a:extLst>
                  <a:ext uri="{0D108BD9-81ED-4DB2-BD59-A6C34878D82A}">
                    <a16:rowId xmlns:a16="http://schemas.microsoft.com/office/drawing/2014/main" val="10001"/>
                  </a:ext>
                </a:extLst>
              </a:tr>
              <a:tr h="429886">
                <a:tc>
                  <a:txBody>
                    <a:bodyPr/>
                    <a:lstStyle/>
                    <a:p>
                      <a:pPr algn="l"/>
                      <a:r>
                        <a:rPr sz="1700">
                          <a:solidFill>
                            <a:srgbClr val="333333"/>
                          </a:solidFill>
                          <a:latin typeface="Calibri"/>
                        </a:rPr>
                        <a:t>motor_cue_avg</a:t>
                      </a:r>
                    </a:p>
                  </a:txBody>
                  <a:tcPr marL="100046" marR="100046" marT="50023" marB="50023" anchor="ctr">
                    <a:solidFill>
                      <a:srgbClr val="F2F5FC"/>
                    </a:solidFill>
                  </a:tcPr>
                </a:tc>
                <a:tc>
                  <a:txBody>
                    <a:bodyPr/>
                    <a:lstStyle/>
                    <a:p>
                      <a:pPr algn="ctr"/>
                      <a:r>
                        <a:rPr sz="1700">
                          <a:solidFill>
                            <a:srgbClr val="333333"/>
                          </a:solidFill>
                          <a:latin typeface="Calibri"/>
                        </a:rPr>
                        <a:t>0.79205</a:t>
                      </a:r>
                    </a:p>
                  </a:txBody>
                  <a:tcPr marL="100046" marR="100046" marT="50023" marB="50023" anchor="ctr">
                    <a:solidFill>
                      <a:srgbClr val="F2F5FC"/>
                    </a:solidFill>
                  </a:tcPr>
                </a:tc>
                <a:tc>
                  <a:txBody>
                    <a:bodyPr/>
                    <a:lstStyle/>
                    <a:p>
                      <a:pPr algn="ctr"/>
                      <a:r>
                        <a:rPr sz="1700">
                          <a:solidFill>
                            <a:srgbClr val="333333"/>
                          </a:solidFill>
                          <a:latin typeface="Calibri"/>
                        </a:rPr>
                        <a:t>0.79205</a:t>
                      </a:r>
                    </a:p>
                  </a:txBody>
                  <a:tcPr marL="100046" marR="100046" marT="50023" marB="50023" anchor="ctr">
                    <a:solidFill>
                      <a:srgbClr val="F2F5FC"/>
                    </a:solidFill>
                  </a:tcPr>
                </a:tc>
                <a:tc>
                  <a:txBody>
                    <a:bodyPr/>
                    <a:lstStyle/>
                    <a:p>
                      <a:pPr algn="ctr"/>
                      <a:r>
                        <a:rPr sz="1700">
                          <a:solidFill>
                            <a:srgbClr val="333333"/>
                          </a:solidFill>
                          <a:latin typeface="Calibri"/>
                        </a:rPr>
                        <a:t>-0.00%</a:t>
                      </a:r>
                    </a:p>
                  </a:txBody>
                  <a:tcPr marL="100046" marR="100046" marT="50023" marB="50023" anchor="ctr">
                    <a:solidFill>
                      <a:srgbClr val="F2F5FC"/>
                    </a:solidFill>
                  </a:tcPr>
                </a:tc>
                <a:extLst>
                  <a:ext uri="{0D108BD9-81ED-4DB2-BD59-A6C34878D82A}">
                    <a16:rowId xmlns:a16="http://schemas.microsoft.com/office/drawing/2014/main" val="10002"/>
                  </a:ext>
                </a:extLst>
              </a:tr>
              <a:tr h="429886">
                <a:tc>
                  <a:txBody>
                    <a:bodyPr/>
                    <a:lstStyle/>
                    <a:p>
                      <a:pPr algn="l"/>
                      <a:r>
                        <a:rPr sz="1700">
                          <a:solidFill>
                            <a:srgbClr val="333333"/>
                          </a:solidFill>
                          <a:latin typeface="Calibri"/>
                        </a:rPr>
                        <a:t>gambling_punish_reward</a:t>
                      </a:r>
                    </a:p>
                  </a:txBody>
                  <a:tcPr marL="100046" marR="100046" marT="50023" marB="50023" anchor="ctr">
                    <a:solidFill>
                      <a:srgbClr val="FFFFFF"/>
                    </a:solidFill>
                  </a:tcPr>
                </a:tc>
                <a:tc>
                  <a:txBody>
                    <a:bodyPr/>
                    <a:lstStyle/>
                    <a:p>
                      <a:pPr algn="ctr"/>
                      <a:r>
                        <a:rPr sz="1700">
                          <a:solidFill>
                            <a:srgbClr val="333333"/>
                          </a:solidFill>
                          <a:latin typeface="Calibri"/>
                        </a:rPr>
                        <a:t>0.20962</a:t>
                      </a:r>
                    </a:p>
                  </a:txBody>
                  <a:tcPr marL="100046" marR="100046" marT="50023" marB="50023" anchor="ctr">
                    <a:solidFill>
                      <a:srgbClr val="FFFFFF"/>
                    </a:solidFill>
                  </a:tcPr>
                </a:tc>
                <a:tc>
                  <a:txBody>
                    <a:bodyPr/>
                    <a:lstStyle/>
                    <a:p>
                      <a:pPr algn="ctr"/>
                      <a:r>
                        <a:rPr sz="1700">
                          <a:solidFill>
                            <a:srgbClr val="333333"/>
                          </a:solidFill>
                          <a:latin typeface="Calibri"/>
                        </a:rPr>
                        <a:t>0.20962</a:t>
                      </a:r>
                    </a:p>
                  </a:txBody>
                  <a:tcPr marL="100046" marR="100046" marT="50023" marB="50023" anchor="ctr">
                    <a:solidFill>
                      <a:srgbClr val="FFFFFF"/>
                    </a:solidFill>
                  </a:tcPr>
                </a:tc>
                <a:tc>
                  <a:txBody>
                    <a:bodyPr/>
                    <a:lstStyle/>
                    <a:p>
                      <a:pPr algn="ctr"/>
                      <a:r>
                        <a:rPr sz="1700">
                          <a:solidFill>
                            <a:srgbClr val="333333"/>
                          </a:solidFill>
                          <a:latin typeface="Calibri"/>
                        </a:rPr>
                        <a:t>-0.00%</a:t>
                      </a:r>
                    </a:p>
                  </a:txBody>
                  <a:tcPr marL="100046" marR="100046" marT="50023" marB="50023" anchor="ctr">
                    <a:solidFill>
                      <a:srgbClr val="FFFFFF"/>
                    </a:solidFill>
                  </a:tcPr>
                </a:tc>
                <a:extLst>
                  <a:ext uri="{0D108BD9-81ED-4DB2-BD59-A6C34878D82A}">
                    <a16:rowId xmlns:a16="http://schemas.microsoft.com/office/drawing/2014/main" val="10003"/>
                  </a:ext>
                </a:extLst>
              </a:tr>
              <a:tr h="429886">
                <a:tc>
                  <a:txBody>
                    <a:bodyPr/>
                    <a:lstStyle/>
                    <a:p>
                      <a:pPr algn="l"/>
                      <a:r>
                        <a:rPr sz="1700">
                          <a:solidFill>
                            <a:srgbClr val="333333"/>
                          </a:solidFill>
                          <a:latin typeface="Calibri"/>
                        </a:rPr>
                        <a:t>wm_2bk_0bk</a:t>
                      </a:r>
                    </a:p>
                  </a:txBody>
                  <a:tcPr marL="100046" marR="100046" marT="50023" marB="50023" anchor="ctr">
                    <a:solidFill>
                      <a:srgbClr val="F2F5FC"/>
                    </a:solidFill>
                  </a:tcPr>
                </a:tc>
                <a:tc>
                  <a:txBody>
                    <a:bodyPr/>
                    <a:lstStyle/>
                    <a:p>
                      <a:pPr algn="ctr"/>
                      <a:r>
                        <a:rPr sz="1700">
                          <a:solidFill>
                            <a:srgbClr val="333333"/>
                          </a:solidFill>
                          <a:latin typeface="Calibri"/>
                        </a:rPr>
                        <a:t>1.07045</a:t>
                      </a:r>
                    </a:p>
                  </a:txBody>
                  <a:tcPr marL="100046" marR="100046" marT="50023" marB="50023" anchor="ctr">
                    <a:solidFill>
                      <a:srgbClr val="F2F5FC"/>
                    </a:solidFill>
                  </a:tcPr>
                </a:tc>
                <a:tc>
                  <a:txBody>
                    <a:bodyPr/>
                    <a:lstStyle/>
                    <a:p>
                      <a:pPr algn="ctr"/>
                      <a:r>
                        <a:rPr sz="1700">
                          <a:solidFill>
                            <a:srgbClr val="333333"/>
                          </a:solidFill>
                          <a:latin typeface="Calibri"/>
                        </a:rPr>
                        <a:t>1.07045</a:t>
                      </a:r>
                    </a:p>
                  </a:txBody>
                  <a:tcPr marL="100046" marR="100046" marT="50023" marB="50023" anchor="ctr">
                    <a:solidFill>
                      <a:srgbClr val="F2F5FC"/>
                    </a:solidFill>
                  </a:tcPr>
                </a:tc>
                <a:tc>
                  <a:txBody>
                    <a:bodyPr/>
                    <a:lstStyle/>
                    <a:p>
                      <a:pPr algn="ctr"/>
                      <a:r>
                        <a:rPr sz="1700">
                          <a:solidFill>
                            <a:srgbClr val="333333"/>
                          </a:solidFill>
                          <a:latin typeface="Calibri"/>
                        </a:rPr>
                        <a:t>-0.00%</a:t>
                      </a:r>
                    </a:p>
                  </a:txBody>
                  <a:tcPr marL="100046" marR="100046" marT="50023" marB="50023" anchor="ctr">
                    <a:solidFill>
                      <a:srgbClr val="F2F5FC"/>
                    </a:solidFill>
                  </a:tcPr>
                </a:tc>
                <a:extLst>
                  <a:ext uri="{0D108BD9-81ED-4DB2-BD59-A6C34878D82A}">
                    <a16:rowId xmlns:a16="http://schemas.microsoft.com/office/drawing/2014/main" val="10004"/>
                  </a:ext>
                </a:extLst>
              </a:tr>
              <a:tr h="429886">
                <a:tc>
                  <a:txBody>
                    <a:bodyPr/>
                    <a:lstStyle/>
                    <a:p>
                      <a:pPr algn="l"/>
                      <a:r>
                        <a:rPr sz="1700">
                          <a:solidFill>
                            <a:srgbClr val="333333"/>
                          </a:solidFill>
                          <a:latin typeface="Calibri"/>
                        </a:rPr>
                        <a:t>language_math_story</a:t>
                      </a:r>
                    </a:p>
                  </a:txBody>
                  <a:tcPr marL="100046" marR="100046" marT="50023" marB="50023" anchor="ctr">
                    <a:solidFill>
                      <a:srgbClr val="FFFFFF"/>
                    </a:solidFill>
                  </a:tcPr>
                </a:tc>
                <a:tc>
                  <a:txBody>
                    <a:bodyPr/>
                    <a:lstStyle/>
                    <a:p>
                      <a:pPr algn="ctr"/>
                      <a:r>
                        <a:rPr sz="1700">
                          <a:solidFill>
                            <a:srgbClr val="333333"/>
                          </a:solidFill>
                          <a:latin typeface="Calibri"/>
                        </a:rPr>
                        <a:t>2.85734</a:t>
                      </a:r>
                    </a:p>
                  </a:txBody>
                  <a:tcPr marL="100046" marR="100046" marT="50023" marB="50023" anchor="ctr">
                    <a:solidFill>
                      <a:srgbClr val="FFFFFF"/>
                    </a:solidFill>
                  </a:tcPr>
                </a:tc>
                <a:tc>
                  <a:txBody>
                    <a:bodyPr/>
                    <a:lstStyle/>
                    <a:p>
                      <a:pPr algn="ctr"/>
                      <a:r>
                        <a:rPr sz="1700">
                          <a:solidFill>
                            <a:srgbClr val="333333"/>
                          </a:solidFill>
                          <a:latin typeface="Calibri"/>
                        </a:rPr>
                        <a:t>2.85733</a:t>
                      </a:r>
                    </a:p>
                  </a:txBody>
                  <a:tcPr marL="100046" marR="100046" marT="50023" marB="50023" anchor="ctr">
                    <a:solidFill>
                      <a:srgbClr val="FFFFFF"/>
                    </a:solidFill>
                  </a:tcPr>
                </a:tc>
                <a:tc>
                  <a:txBody>
                    <a:bodyPr/>
                    <a:lstStyle/>
                    <a:p>
                      <a:pPr algn="ctr"/>
                      <a:r>
                        <a:rPr sz="1700">
                          <a:solidFill>
                            <a:srgbClr val="333333"/>
                          </a:solidFill>
                          <a:latin typeface="Calibri"/>
                        </a:rPr>
                        <a:t>-0.00%</a:t>
                      </a:r>
                    </a:p>
                  </a:txBody>
                  <a:tcPr marL="100046" marR="100046" marT="50023" marB="50023" anchor="ctr">
                    <a:solidFill>
                      <a:srgbClr val="FFFFFF"/>
                    </a:solidFill>
                  </a:tcPr>
                </a:tc>
                <a:extLst>
                  <a:ext uri="{0D108BD9-81ED-4DB2-BD59-A6C34878D82A}">
                    <a16:rowId xmlns:a16="http://schemas.microsoft.com/office/drawing/2014/main" val="10005"/>
                  </a:ext>
                </a:extLst>
              </a:tr>
              <a:tr h="429886">
                <a:tc>
                  <a:txBody>
                    <a:bodyPr/>
                    <a:lstStyle/>
                    <a:p>
                      <a:pPr algn="l"/>
                      <a:r>
                        <a:rPr sz="1700">
                          <a:solidFill>
                            <a:srgbClr val="333333"/>
                          </a:solidFill>
                          <a:latin typeface="Calibri"/>
                        </a:rPr>
                        <a:t>emotion_faces_shapes</a:t>
                      </a:r>
                    </a:p>
                  </a:txBody>
                  <a:tcPr marL="100046" marR="100046" marT="50023" marB="50023" anchor="ctr">
                    <a:solidFill>
                      <a:srgbClr val="F2F5FC"/>
                    </a:solidFill>
                  </a:tcPr>
                </a:tc>
                <a:tc>
                  <a:txBody>
                    <a:bodyPr/>
                    <a:lstStyle/>
                    <a:p>
                      <a:pPr algn="ctr"/>
                      <a:r>
                        <a:rPr sz="1700">
                          <a:solidFill>
                            <a:srgbClr val="333333"/>
                          </a:solidFill>
                          <a:latin typeface="Calibri"/>
                        </a:rPr>
                        <a:t>0.76334</a:t>
                      </a:r>
                    </a:p>
                  </a:txBody>
                  <a:tcPr marL="100046" marR="100046" marT="50023" marB="50023" anchor="ctr">
                    <a:solidFill>
                      <a:srgbClr val="F2F5FC"/>
                    </a:solidFill>
                  </a:tcPr>
                </a:tc>
                <a:tc>
                  <a:txBody>
                    <a:bodyPr/>
                    <a:lstStyle/>
                    <a:p>
                      <a:pPr algn="ctr"/>
                      <a:r>
                        <a:rPr sz="1700">
                          <a:solidFill>
                            <a:srgbClr val="333333"/>
                          </a:solidFill>
                          <a:latin typeface="Calibri"/>
                        </a:rPr>
                        <a:t>0.76334</a:t>
                      </a:r>
                    </a:p>
                  </a:txBody>
                  <a:tcPr marL="100046" marR="100046" marT="50023" marB="50023" anchor="ctr">
                    <a:solidFill>
                      <a:srgbClr val="F2F5FC"/>
                    </a:solidFill>
                  </a:tcPr>
                </a:tc>
                <a:tc>
                  <a:txBody>
                    <a:bodyPr/>
                    <a:lstStyle/>
                    <a:p>
                      <a:pPr algn="ctr"/>
                      <a:r>
                        <a:rPr sz="1700">
                          <a:solidFill>
                            <a:srgbClr val="333333"/>
                          </a:solidFill>
                          <a:latin typeface="Calibri"/>
                        </a:rPr>
                        <a:t>+0.00%</a:t>
                      </a:r>
                    </a:p>
                  </a:txBody>
                  <a:tcPr marL="100046" marR="100046" marT="50023" marB="50023" anchor="ctr">
                    <a:solidFill>
                      <a:srgbClr val="F2F5FC"/>
                    </a:solidFill>
                  </a:tcPr>
                </a:tc>
                <a:extLst>
                  <a:ext uri="{0D108BD9-81ED-4DB2-BD59-A6C34878D82A}">
                    <a16:rowId xmlns:a16="http://schemas.microsoft.com/office/drawing/2014/main" val="10006"/>
                  </a:ext>
                </a:extLst>
              </a:tr>
              <a:tr h="429886">
                <a:tc>
                  <a:txBody>
                    <a:bodyPr/>
                    <a:lstStyle/>
                    <a:p>
                      <a:pPr algn="l"/>
                      <a:r>
                        <a:rPr sz="1700" dirty="0" err="1">
                          <a:solidFill>
                            <a:srgbClr val="333333"/>
                          </a:solidFill>
                          <a:latin typeface="Calibri"/>
                        </a:rPr>
                        <a:t>relational_match_rel</a:t>
                      </a:r>
                      <a:endParaRPr sz="1700" dirty="0">
                        <a:solidFill>
                          <a:srgbClr val="333333"/>
                        </a:solidFill>
                        <a:latin typeface="Calibri"/>
                      </a:endParaRPr>
                    </a:p>
                  </a:txBody>
                  <a:tcPr marL="100046" marR="100046" marT="50023" marB="50023" anchor="ctr">
                    <a:solidFill>
                      <a:srgbClr val="FFFFFF"/>
                    </a:solidFill>
                  </a:tcPr>
                </a:tc>
                <a:tc>
                  <a:txBody>
                    <a:bodyPr/>
                    <a:lstStyle/>
                    <a:p>
                      <a:pPr algn="ctr"/>
                      <a:r>
                        <a:rPr sz="1700">
                          <a:solidFill>
                            <a:srgbClr val="333333"/>
                          </a:solidFill>
                          <a:latin typeface="Calibri"/>
                        </a:rPr>
                        <a:t>0.27508</a:t>
                      </a:r>
                    </a:p>
                  </a:txBody>
                  <a:tcPr marL="100046" marR="100046" marT="50023" marB="50023" anchor="ctr">
                    <a:solidFill>
                      <a:srgbClr val="FFFFFF"/>
                    </a:solidFill>
                  </a:tcPr>
                </a:tc>
                <a:tc>
                  <a:txBody>
                    <a:bodyPr/>
                    <a:lstStyle/>
                    <a:p>
                      <a:pPr algn="ctr"/>
                      <a:r>
                        <a:rPr sz="1700">
                          <a:solidFill>
                            <a:srgbClr val="333333"/>
                          </a:solidFill>
                          <a:latin typeface="Calibri"/>
                        </a:rPr>
                        <a:t>0.27508</a:t>
                      </a:r>
                    </a:p>
                  </a:txBody>
                  <a:tcPr marL="100046" marR="100046" marT="50023" marB="50023" anchor="ctr">
                    <a:solidFill>
                      <a:srgbClr val="FFFFFF"/>
                    </a:solidFill>
                  </a:tcPr>
                </a:tc>
                <a:tc>
                  <a:txBody>
                    <a:bodyPr/>
                    <a:lstStyle/>
                    <a:p>
                      <a:pPr algn="ctr"/>
                      <a:r>
                        <a:rPr sz="1700" dirty="0">
                          <a:solidFill>
                            <a:srgbClr val="333333"/>
                          </a:solidFill>
                          <a:latin typeface="Calibri"/>
                        </a:rPr>
                        <a:t>+0.00%</a:t>
                      </a:r>
                    </a:p>
                  </a:txBody>
                  <a:tcPr marL="100046" marR="100046" marT="50023" marB="50023" anchor="ctr">
                    <a:solidFill>
                      <a:srgbClr val="FFFFFF"/>
                    </a:solidFill>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79DD934B-6768-7C35-F998-BCA893C0D727}"/>
              </a:ext>
            </a:extLst>
          </p:cNvPr>
          <p:cNvSpPr txBox="1"/>
          <p:nvPr/>
        </p:nvSpPr>
        <p:spPr>
          <a:xfrm>
            <a:off x="2956320" y="649442"/>
            <a:ext cx="6096000" cy="523220"/>
          </a:xfrm>
          <a:prstGeom prst="rect">
            <a:avLst/>
          </a:prstGeom>
          <a:noFill/>
        </p:spPr>
        <p:txBody>
          <a:bodyPr wrap="square">
            <a:spAutoFit/>
          </a:bodyPr>
          <a:lstStyle/>
          <a:p>
            <a:pPr algn="ctr"/>
            <a:r>
              <a:rPr lang="en-US" sz="1400" b="1" dirty="0"/>
              <a:t>Geometry-graph reconstruction MSE, N=20 modes, same 7 representative tasks</a:t>
            </a:r>
          </a:p>
        </p:txBody>
      </p:sp>
      <p:sp>
        <p:nvSpPr>
          <p:cNvPr id="15" name="TextBox 14">
            <a:extLst>
              <a:ext uri="{FF2B5EF4-FFF2-40B4-BE49-F238E27FC236}">
                <a16:creationId xmlns:a16="http://schemas.microsoft.com/office/drawing/2014/main" id="{9A0AEEC4-28A8-6C62-22B5-8A8319A195FD}"/>
              </a:ext>
            </a:extLst>
          </p:cNvPr>
          <p:cNvSpPr txBox="1"/>
          <p:nvPr/>
        </p:nvSpPr>
        <p:spPr>
          <a:xfrm>
            <a:off x="593557" y="5223568"/>
            <a:ext cx="11181347" cy="820738"/>
          </a:xfrm>
          <a:prstGeom prst="rect">
            <a:avLst/>
          </a:prstGeom>
          <a:noFill/>
        </p:spPr>
        <p:txBody>
          <a:bodyPr wrap="square">
            <a:spAutoFit/>
          </a:bodyPr>
          <a:lstStyle/>
          <a:p>
            <a:pPr algn="l">
              <a:spcAft>
                <a:spcPts val="1000"/>
              </a:spcAft>
            </a:pPr>
            <a:r>
              <a:rPr lang="en-US" sz="1300" b="1" dirty="0">
                <a:solidFill>
                  <a:srgbClr val="333333"/>
                </a:solidFill>
                <a:latin typeface="Calibri"/>
              </a:rPr>
              <a:t>Comments.</a:t>
            </a:r>
          </a:p>
          <a:p>
            <a:pPr algn="l">
              <a:spcAft>
                <a:spcPts val="1000"/>
              </a:spcAft>
            </a:pPr>
            <a:r>
              <a:rPr lang="en-US" sz="1300" dirty="0">
                <a:solidFill>
                  <a:srgbClr val="333333"/>
                </a:solidFill>
                <a:latin typeface="Calibri"/>
              </a:rPr>
              <a:t>Correlation across all 7 tasks × 200 modes = r = 0.99999996, RMS difference ≈ 1.5e-6 — our numbers and the authors', while remaining independently computed (not bit-identical, but that’s okay).</a:t>
            </a:r>
          </a:p>
        </p:txBody>
      </p:sp>
    </p:spTree>
    <p:extLst>
      <p:ext uri="{BB962C8B-B14F-4D97-AF65-F5344CB8AC3E}">
        <p14:creationId xmlns:p14="http://schemas.microsoft.com/office/powerpoint/2010/main" val="3287358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F1688-A531-EC1D-887A-DFB52AAD4A17}"/>
              </a:ext>
            </a:extLst>
          </p:cNvPr>
          <p:cNvSpPr>
            <a:spLocks noGrp="1"/>
          </p:cNvSpPr>
          <p:nvPr>
            <p:ph type="title"/>
          </p:nvPr>
        </p:nvSpPr>
        <p:spPr>
          <a:xfrm>
            <a:off x="200526" y="0"/>
            <a:ext cx="11790948" cy="1325563"/>
          </a:xfrm>
        </p:spPr>
        <p:txBody>
          <a:bodyPr/>
          <a:lstStyle/>
          <a:p>
            <a:pPr algn="ctr"/>
            <a:r>
              <a:rPr lang="en-CA" b="1" dirty="0">
                <a:latin typeface="Cambria"/>
              </a:rPr>
              <a:t>Per-Subject vs. Group-Averaged Reconstruction</a:t>
            </a:r>
            <a:endParaRPr lang="en-CA" dirty="0"/>
          </a:p>
        </p:txBody>
      </p:sp>
      <p:graphicFrame>
        <p:nvGraphicFramePr>
          <p:cNvPr id="5" name="Table 4">
            <a:extLst>
              <a:ext uri="{FF2B5EF4-FFF2-40B4-BE49-F238E27FC236}">
                <a16:creationId xmlns:a16="http://schemas.microsoft.com/office/drawing/2014/main" id="{9C9A05F9-09A5-2E01-EF3E-9F850082AA2F}"/>
              </a:ext>
            </a:extLst>
          </p:cNvPr>
          <p:cNvGraphicFramePr>
            <a:graphicFrameLocks noGrp="1"/>
          </p:cNvGraphicFramePr>
          <p:nvPr>
            <p:extLst>
              <p:ext uri="{D42A27DB-BD31-4B8C-83A1-F6EECF244321}">
                <p14:modId xmlns:p14="http://schemas.microsoft.com/office/powerpoint/2010/main" val="2306376620"/>
              </p:ext>
            </p:extLst>
          </p:nvPr>
        </p:nvGraphicFramePr>
        <p:xfrm>
          <a:off x="226367" y="1417637"/>
          <a:ext cx="11965632" cy="2191836"/>
        </p:xfrm>
        <a:graphic>
          <a:graphicData uri="http://schemas.openxmlformats.org/drawingml/2006/table">
            <a:tbl>
              <a:tblPr firstRow="1" bandRow="1">
                <a:tableStyleId>{5C22544A-7EE6-4342-B048-85BDC9FD1C3A}</a:tableStyleId>
              </a:tblPr>
              <a:tblGrid>
                <a:gridCol w="2991408">
                  <a:extLst>
                    <a:ext uri="{9D8B030D-6E8A-4147-A177-3AD203B41FA5}">
                      <a16:colId xmlns:a16="http://schemas.microsoft.com/office/drawing/2014/main" val="20000"/>
                    </a:ext>
                  </a:extLst>
                </a:gridCol>
                <a:gridCol w="2991408">
                  <a:extLst>
                    <a:ext uri="{9D8B030D-6E8A-4147-A177-3AD203B41FA5}">
                      <a16:colId xmlns:a16="http://schemas.microsoft.com/office/drawing/2014/main" val="20001"/>
                    </a:ext>
                  </a:extLst>
                </a:gridCol>
                <a:gridCol w="2991408">
                  <a:extLst>
                    <a:ext uri="{9D8B030D-6E8A-4147-A177-3AD203B41FA5}">
                      <a16:colId xmlns:a16="http://schemas.microsoft.com/office/drawing/2014/main" val="20002"/>
                    </a:ext>
                  </a:extLst>
                </a:gridCol>
                <a:gridCol w="2991408">
                  <a:extLst>
                    <a:ext uri="{9D8B030D-6E8A-4147-A177-3AD203B41FA5}">
                      <a16:colId xmlns:a16="http://schemas.microsoft.com/office/drawing/2014/main" val="20003"/>
                    </a:ext>
                  </a:extLst>
                </a:gridCol>
              </a:tblGrid>
              <a:tr h="536776">
                <a:tc>
                  <a:txBody>
                    <a:bodyPr/>
                    <a:lstStyle/>
                    <a:p>
                      <a:pPr algn="l"/>
                      <a:r>
                        <a:rPr sz="1500" b="1" dirty="0">
                          <a:solidFill>
                            <a:srgbClr val="FFFFFF"/>
                          </a:solidFill>
                          <a:latin typeface="Calibri"/>
                        </a:rPr>
                        <a:t>Graph type</a:t>
                      </a:r>
                    </a:p>
                  </a:txBody>
                  <a:tcPr marL="89463" marR="89463" marT="44731" marB="44731" anchor="ctr">
                    <a:solidFill>
                      <a:srgbClr val="1E2761"/>
                    </a:solidFill>
                  </a:tcPr>
                </a:tc>
                <a:tc>
                  <a:txBody>
                    <a:bodyPr/>
                    <a:lstStyle/>
                    <a:p>
                      <a:pPr algn="ctr"/>
                      <a:r>
                        <a:rPr sz="1500" b="1" dirty="0">
                          <a:solidFill>
                            <a:srgbClr val="FFFFFF"/>
                          </a:solidFill>
                          <a:latin typeface="Calibri"/>
                        </a:rPr>
                        <a:t>(group-avg before reconstruction)</a:t>
                      </a:r>
                    </a:p>
                  </a:txBody>
                  <a:tcPr marL="89463" marR="89463" marT="44731" marB="44731" anchor="ctr">
                    <a:solidFill>
                      <a:srgbClr val="1E2761"/>
                    </a:solidFill>
                  </a:tcPr>
                </a:tc>
                <a:tc>
                  <a:txBody>
                    <a:bodyPr/>
                    <a:lstStyle/>
                    <a:p>
                      <a:pPr algn="ctr"/>
                      <a:r>
                        <a:rPr sz="1500" b="1">
                          <a:solidFill>
                            <a:srgbClr val="FFFFFF"/>
                          </a:solidFill>
                          <a:latin typeface="Calibri"/>
                        </a:rPr>
                        <a:t>FIXED (per-subject, then averaged)</a:t>
                      </a:r>
                    </a:p>
                  </a:txBody>
                  <a:tcPr marL="89463" marR="89463" marT="44731" marB="44731" anchor="ctr">
                    <a:solidFill>
                      <a:srgbClr val="1E2761"/>
                    </a:solidFill>
                  </a:tcPr>
                </a:tc>
                <a:tc>
                  <a:txBody>
                    <a:bodyPr/>
                    <a:lstStyle/>
                    <a:p>
                      <a:pPr algn="ctr"/>
                      <a:r>
                        <a:rPr sz="1500" b="1">
                          <a:solidFill>
                            <a:srgbClr val="FFFFFF"/>
                          </a:solidFill>
                          <a:latin typeface="Calibri"/>
                        </a:rPr>
                        <a:t>Change</a:t>
                      </a:r>
                    </a:p>
                  </a:txBody>
                  <a:tcPr marL="89463" marR="89463" marT="44731" marB="44731" anchor="ctr">
                    <a:solidFill>
                      <a:srgbClr val="1E2761"/>
                    </a:solidFill>
                  </a:tcPr>
                </a:tc>
                <a:extLst>
                  <a:ext uri="{0D108BD9-81ED-4DB2-BD59-A6C34878D82A}">
                    <a16:rowId xmlns:a16="http://schemas.microsoft.com/office/drawing/2014/main" val="10000"/>
                  </a:ext>
                </a:extLst>
              </a:tr>
              <a:tr h="413765">
                <a:tc>
                  <a:txBody>
                    <a:bodyPr/>
                    <a:lstStyle/>
                    <a:p>
                      <a:pPr algn="l"/>
                      <a:r>
                        <a:rPr sz="1500">
                          <a:solidFill>
                            <a:srgbClr val="333333"/>
                          </a:solidFill>
                          <a:latin typeface="Calibri"/>
                        </a:rPr>
                        <a:t>Geometry</a:t>
                      </a:r>
                    </a:p>
                  </a:txBody>
                  <a:tcPr marL="89463" marR="89463" marT="44731" marB="44731" anchor="ctr">
                    <a:solidFill>
                      <a:srgbClr val="FFFFFF"/>
                    </a:solidFill>
                  </a:tcPr>
                </a:tc>
                <a:tc>
                  <a:txBody>
                    <a:bodyPr/>
                    <a:lstStyle/>
                    <a:p>
                      <a:pPr algn="ctr"/>
                      <a:r>
                        <a:rPr sz="1500">
                          <a:solidFill>
                            <a:srgbClr val="333333"/>
                          </a:solidFill>
                          <a:latin typeface="Calibri"/>
                        </a:rPr>
                        <a:t>0.485</a:t>
                      </a:r>
                    </a:p>
                  </a:txBody>
                  <a:tcPr marL="89463" marR="89463" marT="44731" marB="44731" anchor="ctr">
                    <a:solidFill>
                      <a:srgbClr val="FFFFFF"/>
                    </a:solidFill>
                  </a:tcPr>
                </a:tc>
                <a:tc>
                  <a:txBody>
                    <a:bodyPr/>
                    <a:lstStyle/>
                    <a:p>
                      <a:pPr algn="ctr"/>
                      <a:r>
                        <a:rPr sz="1500">
                          <a:solidFill>
                            <a:srgbClr val="333333"/>
                          </a:solidFill>
                          <a:latin typeface="Calibri"/>
                        </a:rPr>
                        <a:t>0.490</a:t>
                      </a:r>
                    </a:p>
                  </a:txBody>
                  <a:tcPr marL="89463" marR="89463" marT="44731" marB="44731" anchor="ctr">
                    <a:solidFill>
                      <a:srgbClr val="FFFFFF"/>
                    </a:solidFill>
                  </a:tcPr>
                </a:tc>
                <a:tc>
                  <a:txBody>
                    <a:bodyPr/>
                    <a:lstStyle/>
                    <a:p>
                      <a:pPr algn="ctr"/>
                      <a:r>
                        <a:rPr sz="1500">
                          <a:solidFill>
                            <a:srgbClr val="333333"/>
                          </a:solidFill>
                          <a:latin typeface="Calibri"/>
                        </a:rPr>
                        <a:t>+1.0%</a:t>
                      </a:r>
                    </a:p>
                  </a:txBody>
                  <a:tcPr marL="89463" marR="89463" marT="44731" marB="44731" anchor="ctr">
                    <a:solidFill>
                      <a:srgbClr val="FFFFFF"/>
                    </a:solidFill>
                  </a:tcPr>
                </a:tc>
                <a:extLst>
                  <a:ext uri="{0D108BD9-81ED-4DB2-BD59-A6C34878D82A}">
                    <a16:rowId xmlns:a16="http://schemas.microsoft.com/office/drawing/2014/main" val="10001"/>
                  </a:ext>
                </a:extLst>
              </a:tr>
              <a:tr h="413765">
                <a:tc>
                  <a:txBody>
                    <a:bodyPr/>
                    <a:lstStyle/>
                    <a:p>
                      <a:pPr algn="l"/>
                      <a:r>
                        <a:rPr sz="1500">
                          <a:solidFill>
                            <a:srgbClr val="333333"/>
                          </a:solidFill>
                          <a:latin typeface="Calibri"/>
                        </a:rPr>
                        <a:t>EDR binary</a:t>
                      </a:r>
                    </a:p>
                  </a:txBody>
                  <a:tcPr marL="89463" marR="89463" marT="44731" marB="44731" anchor="ctr">
                    <a:solidFill>
                      <a:srgbClr val="F2F5FC"/>
                    </a:solidFill>
                  </a:tcPr>
                </a:tc>
                <a:tc>
                  <a:txBody>
                    <a:bodyPr/>
                    <a:lstStyle/>
                    <a:p>
                      <a:pPr algn="ctr"/>
                      <a:r>
                        <a:rPr sz="1500">
                          <a:solidFill>
                            <a:srgbClr val="333333"/>
                          </a:solidFill>
                          <a:latin typeface="Calibri"/>
                        </a:rPr>
                        <a:t>0.535</a:t>
                      </a:r>
                    </a:p>
                  </a:txBody>
                  <a:tcPr marL="89463" marR="89463" marT="44731" marB="44731" anchor="ctr">
                    <a:solidFill>
                      <a:srgbClr val="F2F5FC"/>
                    </a:solidFill>
                  </a:tcPr>
                </a:tc>
                <a:tc>
                  <a:txBody>
                    <a:bodyPr/>
                    <a:lstStyle/>
                    <a:p>
                      <a:pPr algn="ctr"/>
                      <a:r>
                        <a:rPr sz="1500">
                          <a:solidFill>
                            <a:srgbClr val="333333"/>
                          </a:solidFill>
                          <a:latin typeface="Calibri"/>
                        </a:rPr>
                        <a:t>0.535</a:t>
                      </a:r>
                    </a:p>
                  </a:txBody>
                  <a:tcPr marL="89463" marR="89463" marT="44731" marB="44731" anchor="ctr">
                    <a:solidFill>
                      <a:srgbClr val="F2F5FC"/>
                    </a:solidFill>
                  </a:tcPr>
                </a:tc>
                <a:tc>
                  <a:txBody>
                    <a:bodyPr/>
                    <a:lstStyle/>
                    <a:p>
                      <a:pPr algn="ctr"/>
                      <a:r>
                        <a:rPr sz="1500">
                          <a:solidFill>
                            <a:srgbClr val="333333"/>
                          </a:solidFill>
                          <a:latin typeface="Calibri"/>
                        </a:rPr>
                        <a:t>+0.0%</a:t>
                      </a:r>
                    </a:p>
                  </a:txBody>
                  <a:tcPr marL="89463" marR="89463" marT="44731" marB="44731" anchor="ctr">
                    <a:solidFill>
                      <a:srgbClr val="F2F5FC"/>
                    </a:solidFill>
                  </a:tcPr>
                </a:tc>
                <a:extLst>
                  <a:ext uri="{0D108BD9-81ED-4DB2-BD59-A6C34878D82A}">
                    <a16:rowId xmlns:a16="http://schemas.microsoft.com/office/drawing/2014/main" val="10002"/>
                  </a:ext>
                </a:extLst>
              </a:tr>
              <a:tr h="413765">
                <a:tc>
                  <a:txBody>
                    <a:bodyPr/>
                    <a:lstStyle/>
                    <a:p>
                      <a:pPr algn="l"/>
                      <a:r>
                        <a:rPr sz="1500">
                          <a:solidFill>
                            <a:srgbClr val="333333"/>
                          </a:solidFill>
                          <a:latin typeface="Calibri"/>
                        </a:rPr>
                        <a:t>EDR continuous</a:t>
                      </a:r>
                    </a:p>
                  </a:txBody>
                  <a:tcPr marL="89463" marR="89463" marT="44731" marB="44731" anchor="ctr">
                    <a:solidFill>
                      <a:srgbClr val="FFFFFF"/>
                    </a:solidFill>
                  </a:tcPr>
                </a:tc>
                <a:tc>
                  <a:txBody>
                    <a:bodyPr/>
                    <a:lstStyle/>
                    <a:p>
                      <a:pPr algn="ctr"/>
                      <a:r>
                        <a:rPr sz="1500">
                          <a:solidFill>
                            <a:srgbClr val="333333"/>
                          </a:solidFill>
                          <a:latin typeface="Calibri"/>
                        </a:rPr>
                        <a:t>0.512</a:t>
                      </a:r>
                    </a:p>
                  </a:txBody>
                  <a:tcPr marL="89463" marR="89463" marT="44731" marB="44731" anchor="ctr">
                    <a:solidFill>
                      <a:srgbClr val="FFFFFF"/>
                    </a:solidFill>
                  </a:tcPr>
                </a:tc>
                <a:tc>
                  <a:txBody>
                    <a:bodyPr/>
                    <a:lstStyle/>
                    <a:p>
                      <a:pPr algn="ctr"/>
                      <a:r>
                        <a:rPr sz="1500">
                          <a:solidFill>
                            <a:srgbClr val="333333"/>
                          </a:solidFill>
                          <a:latin typeface="Calibri"/>
                        </a:rPr>
                        <a:t>0.525</a:t>
                      </a:r>
                    </a:p>
                  </a:txBody>
                  <a:tcPr marL="89463" marR="89463" marT="44731" marB="44731" anchor="ctr">
                    <a:solidFill>
                      <a:srgbClr val="FFFFFF"/>
                    </a:solidFill>
                  </a:tcPr>
                </a:tc>
                <a:tc>
                  <a:txBody>
                    <a:bodyPr/>
                    <a:lstStyle/>
                    <a:p>
                      <a:pPr algn="ctr"/>
                      <a:r>
                        <a:rPr sz="1500">
                          <a:solidFill>
                            <a:srgbClr val="333333"/>
                          </a:solidFill>
                          <a:latin typeface="Calibri"/>
                        </a:rPr>
                        <a:t>+2.6%</a:t>
                      </a:r>
                    </a:p>
                  </a:txBody>
                  <a:tcPr marL="89463" marR="89463" marT="44731" marB="44731" anchor="ctr">
                    <a:solidFill>
                      <a:srgbClr val="FFFFFF"/>
                    </a:solidFill>
                  </a:tcPr>
                </a:tc>
                <a:extLst>
                  <a:ext uri="{0D108BD9-81ED-4DB2-BD59-A6C34878D82A}">
                    <a16:rowId xmlns:a16="http://schemas.microsoft.com/office/drawing/2014/main" val="10003"/>
                  </a:ext>
                </a:extLst>
              </a:tr>
              <a:tr h="413765">
                <a:tc>
                  <a:txBody>
                    <a:bodyPr/>
                    <a:lstStyle/>
                    <a:p>
                      <a:pPr algn="l"/>
                      <a:r>
                        <a:rPr sz="1500">
                          <a:solidFill>
                            <a:srgbClr val="333333"/>
                          </a:solidFill>
                          <a:latin typeface="Calibri"/>
                        </a:rPr>
                        <a:t>EDR+LR</a:t>
                      </a:r>
                    </a:p>
                  </a:txBody>
                  <a:tcPr marL="89463" marR="89463" marT="44731" marB="44731" anchor="ctr">
                    <a:solidFill>
                      <a:srgbClr val="F2F5FC"/>
                    </a:solidFill>
                  </a:tcPr>
                </a:tc>
                <a:tc>
                  <a:txBody>
                    <a:bodyPr/>
                    <a:lstStyle/>
                    <a:p>
                      <a:pPr algn="ctr"/>
                      <a:r>
                        <a:rPr sz="1500">
                          <a:solidFill>
                            <a:srgbClr val="333333"/>
                          </a:solidFill>
                          <a:latin typeface="Calibri"/>
                        </a:rPr>
                        <a:t>0.515</a:t>
                      </a:r>
                    </a:p>
                  </a:txBody>
                  <a:tcPr marL="89463" marR="89463" marT="44731" marB="44731" anchor="ctr">
                    <a:solidFill>
                      <a:srgbClr val="F2F5FC"/>
                    </a:solidFill>
                  </a:tcPr>
                </a:tc>
                <a:tc>
                  <a:txBody>
                    <a:bodyPr/>
                    <a:lstStyle/>
                    <a:p>
                      <a:pPr algn="ctr"/>
                      <a:r>
                        <a:rPr sz="1500">
                          <a:solidFill>
                            <a:srgbClr val="333333"/>
                          </a:solidFill>
                          <a:latin typeface="Calibri"/>
                        </a:rPr>
                        <a:t>0.530</a:t>
                      </a:r>
                    </a:p>
                  </a:txBody>
                  <a:tcPr marL="89463" marR="89463" marT="44731" marB="44731" anchor="ctr">
                    <a:solidFill>
                      <a:srgbClr val="F2F5FC"/>
                    </a:solidFill>
                  </a:tcPr>
                </a:tc>
                <a:tc>
                  <a:txBody>
                    <a:bodyPr/>
                    <a:lstStyle/>
                    <a:p>
                      <a:pPr algn="ctr"/>
                      <a:r>
                        <a:rPr sz="1500" dirty="0">
                          <a:solidFill>
                            <a:srgbClr val="333333"/>
                          </a:solidFill>
                          <a:latin typeface="Calibri"/>
                        </a:rPr>
                        <a:t>+2.9%</a:t>
                      </a:r>
                    </a:p>
                  </a:txBody>
                  <a:tcPr marL="89463" marR="89463" marT="44731" marB="44731" anchor="ctr">
                    <a:solidFill>
                      <a:srgbClr val="F2F5FC"/>
                    </a:solid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F93B4CF7-A450-247C-5F1D-72BA53EDC998}"/>
              </a:ext>
            </a:extLst>
          </p:cNvPr>
          <p:cNvSpPr txBox="1"/>
          <p:nvPr/>
        </p:nvSpPr>
        <p:spPr>
          <a:xfrm>
            <a:off x="200526" y="3963035"/>
            <a:ext cx="4291263" cy="1477328"/>
          </a:xfrm>
          <a:prstGeom prst="rect">
            <a:avLst/>
          </a:prstGeom>
          <a:noFill/>
        </p:spPr>
        <p:txBody>
          <a:bodyPr wrap="square" rtlCol="0">
            <a:spAutoFit/>
          </a:bodyPr>
          <a:lstStyle/>
          <a:p>
            <a:r>
              <a:rPr lang="en-CA" dirty="0"/>
              <a:t>When I was trying to reproduce the code, I initially found myself, averaging individual subject raw data, then using that for the reconstruction – as a single value. </a:t>
            </a:r>
            <a:r>
              <a:rPr lang="en-CA" b="1" dirty="0"/>
              <a:t>My replication was off but not by much.</a:t>
            </a:r>
          </a:p>
        </p:txBody>
      </p:sp>
      <p:cxnSp>
        <p:nvCxnSpPr>
          <p:cNvPr id="12" name="Connector: Curved 11">
            <a:extLst>
              <a:ext uri="{FF2B5EF4-FFF2-40B4-BE49-F238E27FC236}">
                <a16:creationId xmlns:a16="http://schemas.microsoft.com/office/drawing/2014/main" id="{B3F1F67B-8812-B0EB-C7A4-1C3DAF965613}"/>
              </a:ext>
            </a:extLst>
          </p:cNvPr>
          <p:cNvCxnSpPr>
            <a:stCxn id="3" idx="3"/>
          </p:cNvCxnSpPr>
          <p:nvPr/>
        </p:nvCxnSpPr>
        <p:spPr>
          <a:xfrm flipV="1">
            <a:off x="4491789" y="3701547"/>
            <a:ext cx="497306" cy="1000152"/>
          </a:xfrm>
          <a:prstGeom prst="curved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26812B29-DCBC-6B97-3E08-8EB9D6FCEB9F}"/>
              </a:ext>
            </a:extLst>
          </p:cNvPr>
          <p:cNvSpPr txBox="1"/>
          <p:nvPr/>
        </p:nvSpPr>
        <p:spPr>
          <a:xfrm>
            <a:off x="6424863" y="5440363"/>
            <a:ext cx="5566611" cy="923330"/>
          </a:xfrm>
          <a:prstGeom prst="rect">
            <a:avLst/>
          </a:prstGeom>
          <a:noFill/>
        </p:spPr>
        <p:txBody>
          <a:bodyPr wrap="square" rtlCol="0">
            <a:spAutoFit/>
          </a:bodyPr>
          <a:lstStyle/>
          <a:p>
            <a:r>
              <a:rPr lang="en-CA" dirty="0" err="1"/>
              <a:t>Vohyzek</a:t>
            </a:r>
            <a:r>
              <a:rPr lang="en-CA" dirty="0"/>
              <a:t> et al. actually reconstructed the subject raw activity may first, then </a:t>
            </a:r>
            <a:r>
              <a:rPr lang="en-US" dirty="0">
                <a:solidFill>
                  <a:srgbClr val="333333"/>
                </a:solidFill>
                <a:latin typeface="Calibri"/>
              </a:rPr>
              <a:t>average the resulting MSE/correlation across subjects</a:t>
            </a:r>
            <a:r>
              <a:rPr lang="en-CA" dirty="0"/>
              <a:t> </a:t>
            </a:r>
          </a:p>
        </p:txBody>
      </p:sp>
      <p:cxnSp>
        <p:nvCxnSpPr>
          <p:cNvPr id="17" name="Connector: Curved 16">
            <a:extLst>
              <a:ext uri="{FF2B5EF4-FFF2-40B4-BE49-F238E27FC236}">
                <a16:creationId xmlns:a16="http://schemas.microsoft.com/office/drawing/2014/main" id="{891B16DF-EDB5-FD33-9D07-1472F7A49573}"/>
              </a:ext>
            </a:extLst>
          </p:cNvPr>
          <p:cNvCxnSpPr>
            <a:stCxn id="13" idx="0"/>
          </p:cNvCxnSpPr>
          <p:nvPr/>
        </p:nvCxnSpPr>
        <p:spPr>
          <a:xfrm rot="16200000" flipV="1">
            <a:off x="7584783" y="3816977"/>
            <a:ext cx="1738816" cy="1507956"/>
          </a:xfrm>
          <a:prstGeom prst="curved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2707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6DE-8F9E-7B2C-62C8-34ACAB3BF71B}"/>
              </a:ext>
            </a:extLst>
          </p:cNvPr>
          <p:cNvSpPr>
            <a:spLocks noGrp="1"/>
          </p:cNvSpPr>
          <p:nvPr>
            <p:ph type="title"/>
          </p:nvPr>
        </p:nvSpPr>
        <p:spPr>
          <a:xfrm>
            <a:off x="1379621" y="99678"/>
            <a:ext cx="9432758" cy="581359"/>
          </a:xfrm>
        </p:spPr>
        <p:txBody>
          <a:bodyPr>
            <a:normAutofit fontScale="90000"/>
          </a:bodyPr>
          <a:lstStyle/>
          <a:p>
            <a:pPr algn="ctr"/>
            <a:r>
              <a:rPr lang="en-CA" b="1" dirty="0"/>
              <a:t>Potential Next </a:t>
            </a:r>
            <a:r>
              <a:rPr lang="en-CA" b="1" dirty="0">
                <a:latin typeface="+mn-lt"/>
              </a:rPr>
              <a:t>Step</a:t>
            </a:r>
            <a:r>
              <a:rPr lang="en-CA" b="1" dirty="0"/>
              <a:t>: Option 1. Integration</a:t>
            </a:r>
          </a:p>
        </p:txBody>
      </p:sp>
      <p:sp>
        <p:nvSpPr>
          <p:cNvPr id="5" name="TextBox 4">
            <a:extLst>
              <a:ext uri="{FF2B5EF4-FFF2-40B4-BE49-F238E27FC236}">
                <a16:creationId xmlns:a16="http://schemas.microsoft.com/office/drawing/2014/main" id="{5644E145-FCBC-CEB7-CA57-E79AAEB7AE82}"/>
              </a:ext>
            </a:extLst>
          </p:cNvPr>
          <p:cNvSpPr txBox="1"/>
          <p:nvPr/>
        </p:nvSpPr>
        <p:spPr>
          <a:xfrm>
            <a:off x="3048000" y="1667408"/>
            <a:ext cx="6096000" cy="461665"/>
          </a:xfrm>
          <a:prstGeom prst="rect">
            <a:avLst/>
          </a:prstGeom>
          <a:noFill/>
        </p:spPr>
        <p:txBody>
          <a:bodyPr wrap="square">
            <a:spAutoFit/>
          </a:bodyPr>
          <a:lstStyle/>
          <a:p>
            <a:r>
              <a:rPr lang="en-US" sz="2400" b="1" dirty="0"/>
              <a:t>Replicate the Original Delay Model Exactly</a:t>
            </a:r>
            <a:endParaRPr lang="en-CA" b="1" dirty="0"/>
          </a:p>
        </p:txBody>
      </p:sp>
      <p:sp>
        <p:nvSpPr>
          <p:cNvPr id="9" name="TextBox 8">
            <a:extLst>
              <a:ext uri="{FF2B5EF4-FFF2-40B4-BE49-F238E27FC236}">
                <a16:creationId xmlns:a16="http://schemas.microsoft.com/office/drawing/2014/main" id="{BDE2AE67-AFB2-9733-43B7-0C2F27197A4E}"/>
              </a:ext>
            </a:extLst>
          </p:cNvPr>
          <p:cNvSpPr txBox="1"/>
          <p:nvPr/>
        </p:nvSpPr>
        <p:spPr>
          <a:xfrm>
            <a:off x="136358" y="2129073"/>
            <a:ext cx="11919284" cy="4593565"/>
          </a:xfrm>
          <a:prstGeom prst="rect">
            <a:avLst/>
          </a:prstGeom>
          <a:noFill/>
        </p:spPr>
        <p:txBody>
          <a:bodyPr wrap="square">
            <a:spAutoFit/>
          </a:bodyPr>
          <a:lstStyle/>
          <a:p>
            <a:pPr algn="l">
              <a:spcAft>
                <a:spcPts val="1300"/>
              </a:spcAft>
            </a:pPr>
            <a:r>
              <a:rPr lang="en-US" sz="2000" dirty="0" err="1">
                <a:solidFill>
                  <a:srgbClr val="333333"/>
                </a:solidFill>
              </a:rPr>
              <a:t>Vohryzek</a:t>
            </a:r>
            <a:r>
              <a:rPr lang="en-US" sz="2000" dirty="0">
                <a:solidFill>
                  <a:srgbClr val="333333"/>
                </a:solidFill>
              </a:rPr>
              <a:t> et al.'s entire framework reconstructs brain activity as a weighted sum of the real-valued eigenvectors (harmonic modes) of the EDR/EDR+LR graph Laplacian. Budzinski et al. (2023) instead define a complex-valued coupling matrix, W = A · exp(-</a:t>
            </a:r>
            <a:r>
              <a:rPr lang="en-US" sz="2000" dirty="0" err="1">
                <a:solidFill>
                  <a:srgbClr val="333333"/>
                </a:solidFill>
              </a:rPr>
              <a:t>iωτ</a:t>
            </a:r>
            <a:r>
              <a:rPr lang="en-US" sz="2000" dirty="0">
                <a:solidFill>
                  <a:srgbClr val="333333"/>
                </a:solidFill>
              </a:rPr>
              <a:t>), where τ is the conduction delay (distance / conduction speed).</a:t>
            </a:r>
          </a:p>
          <a:p>
            <a:pPr algn="l">
              <a:spcAft>
                <a:spcPts val="1300"/>
              </a:spcAft>
            </a:pPr>
            <a:r>
              <a:rPr lang="en-US" sz="2000" b="1" dirty="0">
                <a:solidFill>
                  <a:srgbClr val="333333"/>
                </a:solidFill>
              </a:rPr>
              <a:t>The Idea. </a:t>
            </a:r>
            <a:r>
              <a:rPr lang="en-US" sz="2000" dirty="0">
                <a:solidFill>
                  <a:srgbClr val="333333"/>
                </a:solidFill>
              </a:rPr>
              <a:t>compute the eigenvectors of this complex delay matrix, using the reported parameters (oscillator frequency, coupling strength, conduction speed) and use them as the reconstruction basis in exactly the same way, in place of the real EDR/EDR+LR eigenvectors already used.</a:t>
            </a:r>
          </a:p>
          <a:p>
            <a:pPr algn="l">
              <a:spcAft>
                <a:spcPts val="1300"/>
              </a:spcAft>
            </a:pPr>
            <a:r>
              <a:rPr lang="en-US" sz="2000" dirty="0">
                <a:solidFill>
                  <a:srgbClr val="333333"/>
                </a:solidFill>
              </a:rPr>
              <a:t>This would it stays inside </a:t>
            </a:r>
            <a:r>
              <a:rPr lang="en-US" sz="2000" dirty="0" err="1">
                <a:solidFill>
                  <a:srgbClr val="333333"/>
                </a:solidFill>
              </a:rPr>
              <a:t>Vohryzek's</a:t>
            </a:r>
            <a:r>
              <a:rPr lang="en-US" sz="2000" dirty="0">
                <a:solidFill>
                  <a:srgbClr val="333333"/>
                </a:solidFill>
              </a:rPr>
              <a:t> own linear-reconstruction framework instead of switching to a different evaluation paradigm — the most direct test of whether baking delay into the basis itself changes reconstruction behavior.</a:t>
            </a:r>
          </a:p>
          <a:p>
            <a:pPr algn="l">
              <a:spcAft>
                <a:spcPts val="1300"/>
              </a:spcAft>
            </a:pPr>
            <a:r>
              <a:rPr lang="en-US" sz="2000" b="1" dirty="0">
                <a:solidFill>
                  <a:srgbClr val="333333"/>
                </a:solidFill>
              </a:rPr>
              <a:t>What I’m looking for: </a:t>
            </a:r>
            <a:r>
              <a:rPr lang="en-US" sz="2000" dirty="0">
                <a:solidFill>
                  <a:srgbClr val="333333"/>
                </a:solidFill>
              </a:rPr>
              <a:t>compare reconstruction accuracy using the delay matrix's complex eigenvectors against the real EDR+LR eigenvectors — does incorporating delay into the basis change how many modes are needed, or how well long-range FC / task activity is reconstructed?</a:t>
            </a:r>
          </a:p>
        </p:txBody>
      </p:sp>
      <p:sp>
        <p:nvSpPr>
          <p:cNvPr id="11" name="TextBox 10">
            <a:extLst>
              <a:ext uri="{FF2B5EF4-FFF2-40B4-BE49-F238E27FC236}">
                <a16:creationId xmlns:a16="http://schemas.microsoft.com/office/drawing/2014/main" id="{4AB82309-887B-B50D-D919-31F593D5318F}"/>
              </a:ext>
            </a:extLst>
          </p:cNvPr>
          <p:cNvSpPr txBox="1"/>
          <p:nvPr/>
        </p:nvSpPr>
        <p:spPr>
          <a:xfrm>
            <a:off x="136358" y="836411"/>
            <a:ext cx="11486148" cy="830997"/>
          </a:xfrm>
          <a:prstGeom prst="rect">
            <a:avLst/>
          </a:prstGeom>
          <a:noFill/>
        </p:spPr>
        <p:txBody>
          <a:bodyPr wrap="square">
            <a:spAutoFit/>
          </a:bodyPr>
          <a:lstStyle/>
          <a:p>
            <a:pPr algn="ctr"/>
            <a:r>
              <a:rPr lang="en-US" sz="2400" b="1" dirty="0">
                <a:latin typeface="Arial" panose="020B0604020202020204" pitchFamily="34" charset="0"/>
                <a:cs typeface="Arial" panose="020B0604020202020204" pitchFamily="34" charset="0"/>
              </a:rPr>
              <a:t>Build delay directly into the connectivity graph, then reuse it the same way we already use the EDR/</a:t>
            </a:r>
            <a:r>
              <a:rPr lang="en-US" sz="2400" b="1" dirty="0">
                <a:cs typeface="Arial" panose="020B0604020202020204" pitchFamily="34" charset="0"/>
              </a:rPr>
              <a:t>Geometry</a:t>
            </a:r>
            <a:r>
              <a:rPr lang="en-US" sz="2400" b="1" dirty="0">
                <a:latin typeface="Arial" panose="020B0604020202020204" pitchFamily="34" charset="0"/>
                <a:cs typeface="Arial" panose="020B0604020202020204" pitchFamily="34" charset="0"/>
              </a:rPr>
              <a:t> eigenmodes.</a:t>
            </a:r>
            <a:endParaRPr lang="en-CA"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745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94D6-815F-9E7C-00A5-927AFFDA65A2}"/>
              </a:ext>
            </a:extLst>
          </p:cNvPr>
          <p:cNvSpPr>
            <a:spLocks noGrp="1"/>
          </p:cNvSpPr>
          <p:nvPr>
            <p:ph type="title"/>
          </p:nvPr>
        </p:nvSpPr>
        <p:spPr>
          <a:xfrm>
            <a:off x="838200" y="292183"/>
            <a:ext cx="10515600" cy="565317"/>
          </a:xfrm>
        </p:spPr>
        <p:txBody>
          <a:bodyPr>
            <a:normAutofit fontScale="90000"/>
          </a:bodyPr>
          <a:lstStyle/>
          <a:p>
            <a:pPr algn="ctr"/>
            <a:r>
              <a:rPr lang="en-CA" b="1" dirty="0"/>
              <a:t>Other options for Option 1</a:t>
            </a:r>
            <a:endParaRPr lang="en-CA" dirty="0"/>
          </a:p>
        </p:txBody>
      </p:sp>
      <p:sp>
        <p:nvSpPr>
          <p:cNvPr id="6" name="TextBox 5">
            <a:extLst>
              <a:ext uri="{FF2B5EF4-FFF2-40B4-BE49-F238E27FC236}">
                <a16:creationId xmlns:a16="http://schemas.microsoft.com/office/drawing/2014/main" id="{220641EF-8F1A-CED0-FB48-20676C8270BE}"/>
              </a:ext>
            </a:extLst>
          </p:cNvPr>
          <p:cNvSpPr txBox="1"/>
          <p:nvPr/>
        </p:nvSpPr>
        <p:spPr>
          <a:xfrm>
            <a:off x="385896" y="1179667"/>
            <a:ext cx="11420208" cy="3785652"/>
          </a:xfrm>
          <a:prstGeom prst="rect">
            <a:avLst/>
          </a:prstGeom>
          <a:noFill/>
        </p:spPr>
        <p:txBody>
          <a:bodyPr wrap="square" rtlCol="0">
            <a:spAutoFit/>
          </a:bodyPr>
          <a:lstStyle/>
          <a:p>
            <a:r>
              <a:rPr lang="en-CA" sz="2400" dirty="0"/>
              <a:t>Xie et al. (2021) – Adding delay turns the graph into a complex-valued network. Its modes predict real brain networks better than the standard, delay-free version</a:t>
            </a:r>
          </a:p>
          <a:p>
            <a:endParaRPr lang="en-CA" sz="2400" dirty="0"/>
          </a:p>
          <a:p>
            <a:r>
              <a:rPr lang="en-CA" sz="2400" dirty="0"/>
              <a:t>Aqil et al. (2020) – Shows static eigenmode bases can be extended into full dynamical modes (“graph neural fields”). WE could use this as a template potentially, if we don’t get sufficient results.</a:t>
            </a:r>
          </a:p>
          <a:p>
            <a:endParaRPr lang="en-CA" sz="2400" dirty="0"/>
          </a:p>
          <a:p>
            <a:r>
              <a:rPr lang="en-CA" sz="2400" dirty="0" err="1"/>
              <a:t>Kringebach</a:t>
            </a:r>
            <a:r>
              <a:rPr lang="en-CA" sz="2400" dirty="0"/>
              <a:t> et al. (2026) – Argues connectome harmonics and delay/complex harmonics are mathematically the same underlying operator, just tuned differently. Supports the idea of delay as an extension of the framework.</a:t>
            </a:r>
          </a:p>
        </p:txBody>
      </p:sp>
    </p:spTree>
    <p:extLst>
      <p:ext uri="{BB962C8B-B14F-4D97-AF65-F5344CB8AC3E}">
        <p14:creationId xmlns:p14="http://schemas.microsoft.com/office/powerpoint/2010/main" val="1947912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E878-7A15-B86D-32B9-FF930808580F}"/>
              </a:ext>
            </a:extLst>
          </p:cNvPr>
          <p:cNvSpPr>
            <a:spLocks noGrp="1"/>
          </p:cNvSpPr>
          <p:nvPr>
            <p:ph type="title"/>
          </p:nvPr>
        </p:nvSpPr>
        <p:spPr>
          <a:xfrm>
            <a:off x="838200" y="195930"/>
            <a:ext cx="10515600" cy="485107"/>
          </a:xfrm>
        </p:spPr>
        <p:txBody>
          <a:bodyPr>
            <a:noAutofit/>
          </a:bodyPr>
          <a:lstStyle/>
          <a:p>
            <a:pPr algn="ctr"/>
            <a:r>
              <a:rPr lang="en-CA" b="1" dirty="0"/>
              <a:t>Alternative Paths</a:t>
            </a:r>
          </a:p>
        </p:txBody>
      </p:sp>
      <p:sp>
        <p:nvSpPr>
          <p:cNvPr id="4" name="TextBox 3">
            <a:extLst>
              <a:ext uri="{FF2B5EF4-FFF2-40B4-BE49-F238E27FC236}">
                <a16:creationId xmlns:a16="http://schemas.microsoft.com/office/drawing/2014/main" id="{54ADB7E1-3C3F-B598-48F5-C37F23651F88}"/>
              </a:ext>
            </a:extLst>
          </p:cNvPr>
          <p:cNvSpPr txBox="1"/>
          <p:nvPr/>
        </p:nvSpPr>
        <p:spPr>
          <a:xfrm>
            <a:off x="1583450" y="681037"/>
            <a:ext cx="9025099" cy="369332"/>
          </a:xfrm>
          <a:prstGeom prst="rect">
            <a:avLst/>
          </a:prstGeom>
          <a:noFill/>
        </p:spPr>
        <p:txBody>
          <a:bodyPr wrap="none" rtlCol="0">
            <a:spAutoFit/>
          </a:bodyPr>
          <a:lstStyle/>
          <a:p>
            <a:r>
              <a:rPr lang="en-CA" dirty="0"/>
              <a:t>If in case option one of integration doesn’t work, these are options that I think we could try</a:t>
            </a:r>
          </a:p>
        </p:txBody>
      </p:sp>
      <p:sp>
        <p:nvSpPr>
          <p:cNvPr id="6" name="TextBox 5">
            <a:extLst>
              <a:ext uri="{FF2B5EF4-FFF2-40B4-BE49-F238E27FC236}">
                <a16:creationId xmlns:a16="http://schemas.microsoft.com/office/drawing/2014/main" id="{772AED13-911A-C1A4-9774-5638926E38B4}"/>
              </a:ext>
            </a:extLst>
          </p:cNvPr>
          <p:cNvSpPr txBox="1"/>
          <p:nvPr/>
        </p:nvSpPr>
        <p:spPr>
          <a:xfrm>
            <a:off x="112294" y="1050369"/>
            <a:ext cx="11924001" cy="5632311"/>
          </a:xfrm>
          <a:prstGeom prst="rect">
            <a:avLst/>
          </a:prstGeom>
          <a:noFill/>
        </p:spPr>
        <p:txBody>
          <a:bodyPr wrap="square">
            <a:spAutoFit/>
          </a:bodyPr>
          <a:lstStyle/>
          <a:p>
            <a:pPr marL="342900" indent="-342900">
              <a:buAutoNum type="alphaLcPeriod"/>
            </a:pPr>
            <a:r>
              <a:rPr lang="en-CA" sz="2400" b="1" dirty="0"/>
              <a:t>Analytic linear-stability via existing eigenmodes </a:t>
            </a:r>
            <a:r>
              <a:rPr lang="en-CA" sz="2400" dirty="0"/>
              <a:t>— linearize the delayed Kuramoto model around its phase-locked state and diagonalize by the same graph-Laplacian eigenmodes our EDR/EDR+LR pipeline already computes, giving closed-form stability predictions instead of full simulation. (Ameli, Mahdavi, Zarei &amp; Shahbazi 2025, arXiv:2502.00884)</a:t>
            </a:r>
          </a:p>
          <a:p>
            <a:pPr marL="342900" indent="-342900">
              <a:buAutoNum type="alphaLcPeriod"/>
            </a:pPr>
            <a:endParaRPr lang="en-CA" sz="2400" dirty="0"/>
          </a:p>
          <a:p>
            <a:pPr marL="342900" indent="-342900">
              <a:buAutoNum type="alphaLcPeriod"/>
            </a:pPr>
            <a:r>
              <a:rPr lang="en-CA" sz="2400" b="1" dirty="0"/>
              <a:t>Add inertia (second-order delayed Kuramoto) </a:t>
            </a:r>
            <a:r>
              <a:rPr lang="en-CA" sz="2400" dirty="0"/>
              <a:t>— extend the delayed Kuramoto model with an inertia term; delay and inertia jointly produce </a:t>
            </a:r>
            <a:r>
              <a:rPr lang="en-CA" sz="2400" dirty="0" err="1"/>
              <a:t>multistability</a:t>
            </a:r>
            <a:r>
              <a:rPr lang="en-CA" sz="2400" dirty="0"/>
              <a:t>, traveling waves, and chimera states, analyzed via the same eigenmode machinery. (Mahdavi, Zarei, </a:t>
            </a:r>
            <a:r>
              <a:rPr lang="en-CA" sz="2400" dirty="0" err="1"/>
              <a:t>Hövel</a:t>
            </a:r>
            <a:r>
              <a:rPr lang="en-CA" sz="2400" dirty="0"/>
              <a:t> &amp; Shahbazi 2025, arXiv:2512.16640)</a:t>
            </a:r>
          </a:p>
          <a:p>
            <a:pPr marL="342900" indent="-342900">
              <a:buAutoNum type="alphaLcPeriod"/>
            </a:pPr>
            <a:endParaRPr lang="en-CA" sz="2400" b="1" dirty="0"/>
          </a:p>
          <a:p>
            <a:pPr marL="342900" indent="-342900">
              <a:buAutoNum type="alphaLcPeriod"/>
            </a:pPr>
            <a:r>
              <a:rPr lang="en-CA" sz="2400" b="1" dirty="0"/>
              <a:t>Discrete delayed phase-resetting </a:t>
            </a:r>
            <a:r>
              <a:rPr lang="en-CA" sz="2400" dirty="0"/>
              <a:t>— model regions as higher-dimensional “clocks” instantaneously phase-reset by delayed signals from structurally connected regions, using EDR+LR as the directed network — basically a event-driven alternative to continuous delayed coupling. (Brennan &amp; Grindrod 2023, Brain Multiphysics 4:100070)</a:t>
            </a:r>
          </a:p>
        </p:txBody>
      </p:sp>
    </p:spTree>
    <p:extLst>
      <p:ext uri="{BB962C8B-B14F-4D97-AF65-F5344CB8AC3E}">
        <p14:creationId xmlns:p14="http://schemas.microsoft.com/office/powerpoint/2010/main" val="2287506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C7F0-F531-3FDA-32C4-D73827578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BE564-9420-1739-BD7D-AE691E50AA16}"/>
              </a:ext>
            </a:extLst>
          </p:cNvPr>
          <p:cNvSpPr>
            <a:spLocks noGrp="1"/>
          </p:cNvSpPr>
          <p:nvPr>
            <p:ph type="title"/>
          </p:nvPr>
        </p:nvSpPr>
        <p:spPr>
          <a:xfrm>
            <a:off x="838200" y="195930"/>
            <a:ext cx="10515600" cy="485107"/>
          </a:xfrm>
        </p:spPr>
        <p:txBody>
          <a:bodyPr>
            <a:noAutofit/>
          </a:bodyPr>
          <a:lstStyle/>
          <a:p>
            <a:pPr algn="ctr"/>
            <a:r>
              <a:rPr lang="en-CA" b="1" dirty="0"/>
              <a:t>Alternative Paths</a:t>
            </a:r>
          </a:p>
        </p:txBody>
      </p:sp>
      <p:sp>
        <p:nvSpPr>
          <p:cNvPr id="6" name="TextBox 5">
            <a:extLst>
              <a:ext uri="{FF2B5EF4-FFF2-40B4-BE49-F238E27FC236}">
                <a16:creationId xmlns:a16="http://schemas.microsoft.com/office/drawing/2014/main" id="{B8CBB363-4FC3-9307-0F9D-45C483E0491E}"/>
              </a:ext>
            </a:extLst>
          </p:cNvPr>
          <p:cNvSpPr txBox="1"/>
          <p:nvPr/>
        </p:nvSpPr>
        <p:spPr>
          <a:xfrm>
            <a:off x="155703" y="861344"/>
            <a:ext cx="11880594" cy="5457904"/>
          </a:xfrm>
          <a:prstGeom prst="rect">
            <a:avLst/>
          </a:prstGeom>
          <a:noFill/>
        </p:spPr>
        <p:txBody>
          <a:bodyPr wrap="square">
            <a:spAutoFit/>
          </a:bodyPr>
          <a:lstStyle/>
          <a:p>
            <a:pPr>
              <a:spcAft>
                <a:spcPts val="2200"/>
              </a:spcAft>
            </a:pPr>
            <a:r>
              <a:rPr lang="en-CA" sz="2400" b="1" dirty="0">
                <a:solidFill>
                  <a:srgbClr val="333333"/>
                </a:solidFill>
              </a:rPr>
              <a:t>d. Data-driven delay via time-lag embedding — </a:t>
            </a:r>
            <a:r>
              <a:rPr lang="en-CA" sz="2400" dirty="0">
                <a:solidFill>
                  <a:srgbClr val="333333"/>
                </a:solidFill>
              </a:rPr>
              <a:t>Essentially</a:t>
            </a:r>
            <a:r>
              <a:rPr lang="en-CA" sz="2400" b="1" dirty="0">
                <a:solidFill>
                  <a:srgbClr val="333333"/>
                </a:solidFill>
              </a:rPr>
              <a:t> </a:t>
            </a:r>
            <a:r>
              <a:rPr lang="en-CA" sz="2400" dirty="0">
                <a:solidFill>
                  <a:srgbClr val="333333"/>
                </a:solidFill>
              </a:rPr>
              <a:t>fitting a delay-coordinate linear surrogate (Hankel-DMD/HAVOK) directly to empirical or simulated data, letting the data determine delay/memory depth instead of assuming it from distance and conduction speed. (Pan &amp; Duraisamy 2020, arXiv:1902.05198; related: Panahi et al. 2021, arXiv:2112.12147)</a:t>
            </a:r>
            <a:endParaRPr lang="en-CA" sz="2400" b="1" dirty="0">
              <a:solidFill>
                <a:srgbClr val="333333"/>
              </a:solidFill>
            </a:endParaRPr>
          </a:p>
          <a:p>
            <a:pPr>
              <a:spcAft>
                <a:spcPts val="2200"/>
              </a:spcAft>
            </a:pPr>
            <a:r>
              <a:rPr lang="en-CA" sz="2400" b="1" dirty="0">
                <a:solidFill>
                  <a:srgbClr val="333333"/>
                </a:solidFill>
              </a:rPr>
              <a:t>e. Network spectral dimension as an alternative lens — </a:t>
            </a:r>
            <a:r>
              <a:rPr lang="en-CA" sz="2400" dirty="0">
                <a:solidFill>
                  <a:srgbClr val="333333"/>
                </a:solidFill>
              </a:rPr>
              <a:t>long-range connections like EDR+LR reshape synchronization via the network's spectral dimension, producing frustrated transitions even without explicit delay — Maybe see how much of the delay effect this alone explains. (Ódor, Deng &amp; </a:t>
            </a:r>
            <a:r>
              <a:rPr lang="en-CA" sz="2400" dirty="0" err="1">
                <a:solidFill>
                  <a:srgbClr val="333333"/>
                </a:solidFill>
              </a:rPr>
              <a:t>Kelling</a:t>
            </a:r>
            <a:r>
              <a:rPr lang="en-CA" sz="2400" dirty="0">
                <a:solidFill>
                  <a:srgbClr val="333333"/>
                </a:solidFill>
              </a:rPr>
              <a:t> 2024, Entropy 26:1074)</a:t>
            </a:r>
          </a:p>
          <a:p>
            <a:pPr>
              <a:spcAft>
                <a:spcPts val="2200"/>
              </a:spcAft>
            </a:pPr>
            <a:r>
              <a:rPr lang="en-CA" sz="2400" b="1" dirty="0">
                <a:solidFill>
                  <a:srgbClr val="333333"/>
                </a:solidFill>
              </a:rPr>
              <a:t>f. Multi-delay decomposition— </a:t>
            </a:r>
            <a:r>
              <a:rPr lang="en-CA" sz="2400" dirty="0">
                <a:solidFill>
                  <a:srgbClr val="333333"/>
                </a:solidFill>
              </a:rPr>
              <a:t>splitting one large delay into multiple delayed-feedback terms at different lags provably extends the maximum stabilizable delay; could inspire distinct delay terms for short- vs. long-range EDR+LR edges. (Trinh et al. 2026, arXiv:2604.17434)</a:t>
            </a:r>
          </a:p>
        </p:txBody>
      </p:sp>
    </p:spTree>
    <p:extLst>
      <p:ext uri="{BB962C8B-B14F-4D97-AF65-F5344CB8AC3E}">
        <p14:creationId xmlns:p14="http://schemas.microsoft.com/office/powerpoint/2010/main" val="2621814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2C6C3-E2AF-DC49-4B61-12072A642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6A28B-A19C-DCF0-F907-77B48718B265}"/>
              </a:ext>
            </a:extLst>
          </p:cNvPr>
          <p:cNvSpPr>
            <a:spLocks noGrp="1"/>
          </p:cNvSpPr>
          <p:nvPr>
            <p:ph type="title"/>
          </p:nvPr>
        </p:nvSpPr>
        <p:spPr>
          <a:xfrm>
            <a:off x="838200" y="128337"/>
            <a:ext cx="10515600" cy="681037"/>
          </a:xfrm>
        </p:spPr>
        <p:txBody>
          <a:bodyPr>
            <a:normAutofit fontScale="90000"/>
          </a:bodyPr>
          <a:lstStyle/>
          <a:p>
            <a:pPr algn="ctr"/>
            <a:r>
              <a:rPr lang="en-CA" b="1" dirty="0">
                <a:latin typeface="+mn-lt"/>
                <a:cs typeface="Arial" panose="020B0604020202020204" pitchFamily="34" charset="0"/>
              </a:rPr>
              <a:t>Option 2. Delay as a Feature: Simulation</a:t>
            </a:r>
          </a:p>
        </p:txBody>
      </p:sp>
      <p:sp>
        <p:nvSpPr>
          <p:cNvPr id="9" name="TextBox 8">
            <a:extLst>
              <a:ext uri="{FF2B5EF4-FFF2-40B4-BE49-F238E27FC236}">
                <a16:creationId xmlns:a16="http://schemas.microsoft.com/office/drawing/2014/main" id="{A5D2CF3E-BDBF-D2B5-80C7-563EA75AA164}"/>
              </a:ext>
            </a:extLst>
          </p:cNvPr>
          <p:cNvSpPr txBox="1"/>
          <p:nvPr/>
        </p:nvSpPr>
        <p:spPr>
          <a:xfrm>
            <a:off x="192504" y="785646"/>
            <a:ext cx="11486148"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Simulate brain activity with delay included, then test whether it matches real brain connectivity better than a no-delay simulation.</a:t>
            </a:r>
            <a:endParaRPr lang="en-CA" sz="24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4D8C4B16-2D9C-D11A-3341-34DFAD0A908F}"/>
              </a:ext>
            </a:extLst>
          </p:cNvPr>
          <p:cNvSpPr txBox="1"/>
          <p:nvPr/>
        </p:nvSpPr>
        <p:spPr>
          <a:xfrm>
            <a:off x="192504" y="1616643"/>
            <a:ext cx="11806991" cy="4832092"/>
          </a:xfrm>
          <a:prstGeom prst="rect">
            <a:avLst/>
          </a:prstGeom>
          <a:noFill/>
        </p:spPr>
        <p:txBody>
          <a:bodyPr wrap="square" rtlCol="0">
            <a:spAutoFit/>
          </a:bodyPr>
          <a:lstStyle/>
          <a:p>
            <a:r>
              <a:rPr lang="en-US" sz="2200" dirty="0">
                <a:cs typeface="Arial" panose="020B0604020202020204" pitchFamily="34" charset="0"/>
              </a:rPr>
              <a:t>Cabral et al. (2011) —Delay-coupled simulation matches real resting-state connectivity best at ~6 m/s conduction speed.</a:t>
            </a:r>
          </a:p>
          <a:p>
            <a:endParaRPr lang="en-US" sz="2200" dirty="0">
              <a:cs typeface="Arial" panose="020B0604020202020204" pitchFamily="34" charset="0"/>
            </a:endParaRPr>
          </a:p>
          <a:p>
            <a:r>
              <a:rPr lang="en-US" sz="2200" dirty="0">
                <a:cs typeface="Arial" panose="020B0604020202020204" pitchFamily="34" charset="0"/>
              </a:rPr>
              <a:t>Deco et al. (2009) —best speed ~1–2 m/s. Close to our own result (2.5–3.0 m/s).</a:t>
            </a:r>
          </a:p>
          <a:p>
            <a:endParaRPr lang="en-US" sz="2200" dirty="0">
              <a:cs typeface="Arial" panose="020B0604020202020204" pitchFamily="34" charset="0"/>
            </a:endParaRPr>
          </a:p>
          <a:p>
            <a:r>
              <a:rPr lang="en-US" sz="2200" dirty="0">
                <a:cs typeface="Arial" panose="020B0604020202020204" pitchFamily="34" charset="0"/>
              </a:rPr>
              <a:t>Cabral et al. (2022) — Delay produces "metastability" — clusters of brain regions syncing while the whole network stays flexible. This is specifically what produces realistic connectivity patterns.</a:t>
            </a:r>
          </a:p>
          <a:p>
            <a:endParaRPr lang="en-CA" sz="2200" dirty="0">
              <a:cs typeface="Arial" panose="020B0604020202020204" pitchFamily="34" charset="0"/>
            </a:endParaRPr>
          </a:p>
          <a:p>
            <a:r>
              <a:rPr lang="en-US" sz="2200" dirty="0">
                <a:cs typeface="Arial" panose="020B0604020202020204" pitchFamily="34" charset="0"/>
              </a:rPr>
              <a:t>Koller et al. (2024) — Delay is required to get the correct direction of brain waves, not just the right connectivity strength — a stronger test than correlation alone.</a:t>
            </a:r>
          </a:p>
          <a:p>
            <a:endParaRPr lang="en-US" sz="2200" dirty="0">
              <a:cs typeface="Arial" panose="020B0604020202020204" pitchFamily="34" charset="0"/>
            </a:endParaRPr>
          </a:p>
          <a:p>
            <a:r>
              <a:rPr lang="en-US" sz="2200" dirty="0">
                <a:cs typeface="Arial" panose="020B0604020202020204" pitchFamily="34" charset="0"/>
              </a:rPr>
              <a:t>Torres et al. (2025) — Explains why the "best" delay speed changes with brain-map resolution. Resolves a puzzle in our own earlier results.</a:t>
            </a:r>
            <a:endParaRPr lang="en-CA" sz="2200" dirty="0">
              <a:cs typeface="Arial" panose="020B0604020202020204" pitchFamily="34" charset="0"/>
            </a:endParaRPr>
          </a:p>
        </p:txBody>
      </p:sp>
    </p:spTree>
    <p:extLst>
      <p:ext uri="{BB962C8B-B14F-4D97-AF65-F5344CB8AC3E}">
        <p14:creationId xmlns:p14="http://schemas.microsoft.com/office/powerpoint/2010/main" val="2636724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94D6-815F-9E7C-00A5-927AFFDA65A2}"/>
              </a:ext>
            </a:extLst>
          </p:cNvPr>
          <p:cNvSpPr>
            <a:spLocks noGrp="1"/>
          </p:cNvSpPr>
          <p:nvPr>
            <p:ph type="title"/>
          </p:nvPr>
        </p:nvSpPr>
        <p:spPr>
          <a:xfrm>
            <a:off x="838200" y="292183"/>
            <a:ext cx="10515600" cy="565317"/>
          </a:xfrm>
        </p:spPr>
        <p:txBody>
          <a:bodyPr>
            <a:normAutofit fontScale="90000"/>
          </a:bodyPr>
          <a:lstStyle/>
          <a:p>
            <a:pPr algn="ctr"/>
            <a:r>
              <a:rPr lang="en-CA" b="1" dirty="0"/>
              <a:t>References</a:t>
            </a:r>
            <a:endParaRPr lang="en-CA" dirty="0"/>
          </a:p>
        </p:txBody>
      </p:sp>
      <p:sp>
        <p:nvSpPr>
          <p:cNvPr id="6" name="TextBox 5">
            <a:extLst>
              <a:ext uri="{FF2B5EF4-FFF2-40B4-BE49-F238E27FC236}">
                <a16:creationId xmlns:a16="http://schemas.microsoft.com/office/drawing/2014/main" id="{220641EF-8F1A-CED0-FB48-20676C8270BE}"/>
              </a:ext>
            </a:extLst>
          </p:cNvPr>
          <p:cNvSpPr txBox="1"/>
          <p:nvPr/>
        </p:nvSpPr>
        <p:spPr>
          <a:xfrm>
            <a:off x="385896" y="1050000"/>
            <a:ext cx="11420208" cy="5500000"/>
          </a:xfrm>
          <a:prstGeom prst="rect">
            <a:avLst/>
          </a:prstGeom>
          <a:noFill/>
        </p:spPr>
        <p:txBody>
          <a:bodyPr wrap="square" rtlCol="0">
            <a:spAutoFit/>
          </a:bodyPr>
          <a:lstStyle/>
          <a:p>
            <a:pPr marL="457200" indent="-457200">
              <a:spcAft>
                <a:spcPts val="600"/>
              </a:spcAft>
            </a:pPr>
            <a:r>
              <a:rPr lang="en-CA" sz="1200" dirty="0"/>
              <a:t>Ameli, S., Mahdavi, E., Zarei, M., &amp; Shahbazi, F. (2025). Synchronization of the time-delayed Kuramoto model in a regular network. </a:t>
            </a:r>
            <a:r>
              <a:rPr lang="en-CA" sz="1200" i="1" dirty="0"/>
              <a:t>arXiv</a:t>
            </a:r>
            <a:r>
              <a:rPr lang="en-CA" sz="1200" dirty="0"/>
              <a:t>:2502.00884.</a:t>
            </a:r>
          </a:p>
          <a:p>
            <a:pPr marL="457200" indent="-457200">
              <a:spcAft>
                <a:spcPts val="600"/>
              </a:spcAft>
            </a:pPr>
            <a:r>
              <a:rPr lang="en-CA" sz="1200" dirty="0"/>
              <a:t>Aqil, M., Atasoy, S., Kringelbach, M. L., &amp; Hindriks, R. (2020). Graph neural fields: A framework for spatiotemporal dynamical models on the human connectome. </a:t>
            </a:r>
            <a:r>
              <a:rPr lang="en-CA" sz="1200" i="1" dirty="0"/>
              <a:t>bioRxiv</a:t>
            </a:r>
            <a:r>
              <a:rPr lang="en-CA" sz="1200" dirty="0"/>
              <a:t>. https://doi.org/10.1101/2020.09.08.287110</a:t>
            </a:r>
          </a:p>
          <a:p>
            <a:pPr marL="457200" indent="-457200">
              <a:spcAft>
                <a:spcPts val="600"/>
              </a:spcAft>
            </a:pPr>
            <a:r>
              <a:rPr lang="en-CA" sz="1200" dirty="0"/>
              <a:t>Brennan, M., &amp; Grindrod, P. (2023). Generalised Kuramoto models with time-delayed phase-resetting for k-dimensional clocks. </a:t>
            </a:r>
            <a:r>
              <a:rPr lang="en-CA" sz="1200" i="1" dirty="0"/>
              <a:t>Brain Multiphysics, 4</a:t>
            </a:r>
            <a:r>
              <a:rPr lang="en-CA" sz="1200" dirty="0"/>
              <a:t>, 100070. https://doi.org/10.1016/j.brain.2023.100070</a:t>
            </a:r>
          </a:p>
          <a:p>
            <a:pPr marL="457200" indent="-457200">
              <a:spcAft>
                <a:spcPts val="600"/>
              </a:spcAft>
            </a:pPr>
            <a:r>
              <a:rPr lang="en-CA" sz="1200" dirty="0"/>
              <a:t>Budzinski, R. C., Nguyen, T. T., Benigno, G. B., Đoàn, J., Mináč, J., Sejnowski, T. J., &amp; Muller, L. E. (2023). Analytical prediction of specific spatiotemporal patterns in nonlinear oscillator networks with distance-dependent time delays. </a:t>
            </a:r>
            <a:r>
              <a:rPr lang="en-CA" sz="1200" i="1" dirty="0"/>
              <a:t>Physical Review Research, 5</a:t>
            </a:r>
            <a:r>
              <a:rPr lang="en-CA" sz="1200" dirty="0"/>
              <a:t>, 013159. https://doi.org/10.1103/PhysRevResearch.5.013159</a:t>
            </a:r>
          </a:p>
          <a:p>
            <a:pPr marL="457200" indent="-457200">
              <a:spcAft>
                <a:spcPts val="600"/>
              </a:spcAft>
            </a:pPr>
            <a:r>
              <a:rPr lang="en-CA" sz="1200" dirty="0"/>
              <a:t>Cabral, J., Castaldo, F., Vohryzek, J., Litvak, V., Bick, C., Lambiotte, R., Friston, K., Kringelbach, M. L., &amp; Deco, G. (2022). Metastable oscillatory modes emerge from synchronization in the brain spacetime connectome. </a:t>
            </a:r>
            <a:r>
              <a:rPr lang="en-CA" sz="1200" i="1" dirty="0"/>
              <a:t>Communications Physics, 5</a:t>
            </a:r>
            <a:r>
              <a:rPr lang="en-CA" sz="1200" dirty="0"/>
              <a:t>. https://doi.org/10.1038/s42005-022-00950-y</a:t>
            </a:r>
          </a:p>
          <a:p>
            <a:pPr marL="457200" indent="-457200">
              <a:spcAft>
                <a:spcPts val="600"/>
              </a:spcAft>
            </a:pPr>
            <a:r>
              <a:rPr lang="en-CA" sz="1200" dirty="0"/>
              <a:t>Cabral, J., Hugues, E., Sporns, O., &amp; Deco, G. (2011). Role of local network oscillations in resting-state functional connectivity. </a:t>
            </a:r>
            <a:r>
              <a:rPr lang="en-CA" sz="1200" i="1" dirty="0"/>
              <a:t>NeuroImage, 57</a:t>
            </a:r>
            <a:r>
              <a:rPr lang="en-CA" sz="1200" dirty="0"/>
              <a:t>, 130–139. https://doi.org/10.1016/j.neuroimage.2011.04.010</a:t>
            </a:r>
          </a:p>
          <a:p>
            <a:pPr marL="457200" indent="-457200">
              <a:spcAft>
                <a:spcPts val="600"/>
              </a:spcAft>
            </a:pPr>
            <a:r>
              <a:rPr lang="en-CA" sz="1200" dirty="0"/>
              <a:t>Deco, G., Jirsa, V., McIntosh, A. R., Sporns, O., &amp; Kötter, R. (2009). Key role of coupling, delay, and noise in resting brain fluctuations. </a:t>
            </a:r>
            <a:r>
              <a:rPr lang="en-CA" sz="1200" i="1" dirty="0"/>
              <a:t>Proceedings of the National Academy of Sciences, 106</a:t>
            </a:r>
            <a:r>
              <a:rPr lang="en-CA" sz="1200" dirty="0"/>
              <a:t>(25), 10302–10307. https://doi.org/10.1073/pnas.0901831106</a:t>
            </a:r>
          </a:p>
          <a:p>
            <a:pPr marL="457200" indent="-457200">
              <a:spcAft>
                <a:spcPts val="600"/>
              </a:spcAft>
            </a:pPr>
            <a:r>
              <a:rPr lang="en-CA" sz="1200" dirty="0"/>
              <a:t>Koller, D. P., Schirner, M., &amp; Ritter, P. (2024). Human connectome topology directs cortical traveling waves and shapes frequency gradients. </a:t>
            </a:r>
            <a:r>
              <a:rPr lang="en-CA" sz="1200" i="1" dirty="0"/>
              <a:t>Nature Communications, 15</a:t>
            </a:r>
            <a:r>
              <a:rPr lang="en-CA" sz="1200" dirty="0"/>
              <a:t>, 3570. https://doi.org/10.1038/s41467-024-47860-x</a:t>
            </a:r>
          </a:p>
          <a:p>
            <a:pPr marL="457200" indent="-457200">
              <a:spcAft>
                <a:spcPts val="600"/>
              </a:spcAft>
            </a:pPr>
            <a:r>
              <a:rPr lang="en-CA" sz="1200" dirty="0"/>
              <a:t>Kringelbach, M. L., &amp; Deco, G. (2026). One operator to rule them all: Unifying connectome harmonics, turbulence and complex harmonics in brain dynamics. </a:t>
            </a:r>
            <a:r>
              <a:rPr lang="en-CA" sz="1200" i="1" dirty="0"/>
              <a:t>bioRxiv</a:t>
            </a:r>
            <a:r>
              <a:rPr lang="en-CA" sz="1200" dirty="0"/>
              <a:t>. https://doi.org/10.64898/2026.06.05.730423</a:t>
            </a:r>
          </a:p>
          <a:p>
            <a:pPr marL="457200" indent="-457200">
              <a:spcAft>
                <a:spcPts val="600"/>
              </a:spcAft>
            </a:pPr>
            <a:r>
              <a:rPr lang="en-CA" sz="1200" dirty="0"/>
              <a:t>Mahdavi, E., Zarei, M., Hövel, P., &amp; Shahbazi, F. (2025). Time-delayed dynamics in regular Kuramoto networks with inertia: Multistability, traveling waves, chimera states, and transitions to seizure-like activity. </a:t>
            </a:r>
            <a:r>
              <a:rPr lang="en-CA" sz="1200" i="1" dirty="0"/>
              <a:t>arXiv</a:t>
            </a:r>
            <a:r>
              <a:rPr lang="en-CA" sz="1200" dirty="0"/>
              <a:t>:2512.16640.</a:t>
            </a:r>
          </a:p>
        </p:txBody>
      </p:sp>
    </p:spTree>
    <p:extLst>
      <p:ext uri="{BB962C8B-B14F-4D97-AF65-F5344CB8AC3E}">
        <p14:creationId xmlns:p14="http://schemas.microsoft.com/office/powerpoint/2010/main" val="1947912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94D6-815F-9E7C-00A5-927AFFDA65A2}"/>
              </a:ext>
            </a:extLst>
          </p:cNvPr>
          <p:cNvSpPr>
            <a:spLocks noGrp="1"/>
          </p:cNvSpPr>
          <p:nvPr>
            <p:ph type="title"/>
          </p:nvPr>
        </p:nvSpPr>
        <p:spPr>
          <a:xfrm>
            <a:off x="838200" y="292183"/>
            <a:ext cx="10515600" cy="565317"/>
          </a:xfrm>
        </p:spPr>
        <p:txBody>
          <a:bodyPr>
            <a:normAutofit fontScale="90000"/>
          </a:bodyPr>
          <a:lstStyle/>
          <a:p>
            <a:pPr algn="ctr"/>
            <a:r>
              <a:rPr lang="en-CA" b="1" dirty="0"/>
              <a:t>References (continued)</a:t>
            </a:r>
            <a:endParaRPr lang="en-CA" dirty="0"/>
          </a:p>
        </p:txBody>
      </p:sp>
      <p:sp>
        <p:nvSpPr>
          <p:cNvPr id="6" name="TextBox 5">
            <a:extLst>
              <a:ext uri="{FF2B5EF4-FFF2-40B4-BE49-F238E27FC236}">
                <a16:creationId xmlns:a16="http://schemas.microsoft.com/office/drawing/2014/main" id="{220641EF-8F1A-CED0-FB48-20676C8270BE}"/>
              </a:ext>
            </a:extLst>
          </p:cNvPr>
          <p:cNvSpPr txBox="1"/>
          <p:nvPr/>
        </p:nvSpPr>
        <p:spPr>
          <a:xfrm>
            <a:off x="385896" y="1050000"/>
            <a:ext cx="11420208" cy="5500000"/>
          </a:xfrm>
          <a:prstGeom prst="rect">
            <a:avLst/>
          </a:prstGeom>
          <a:noFill/>
        </p:spPr>
        <p:txBody>
          <a:bodyPr wrap="square" rtlCol="0">
            <a:spAutoFit/>
          </a:bodyPr>
          <a:lstStyle/>
          <a:p>
            <a:pPr marL="457200" indent="-457200">
              <a:spcAft>
                <a:spcPts val="600"/>
              </a:spcAft>
            </a:pPr>
            <a:r>
              <a:rPr lang="en-CA" sz="1200" dirty="0"/>
              <a:t>Ódor, G., Deng, S., &amp; Kelling, J. (2024). Frustrated synchronization of the Kuramoto model on complex networks. </a:t>
            </a:r>
            <a:r>
              <a:rPr lang="en-CA" sz="1200" i="1" dirty="0"/>
              <a:t>Entropy, 26</a:t>
            </a:r>
            <a:r>
              <a:rPr lang="en-CA" sz="1200" dirty="0"/>
              <a:t>(12), 1074. https://doi.org/10.3390/e26121074</a:t>
            </a:r>
          </a:p>
          <a:p>
            <a:pPr marL="457200" indent="-457200">
              <a:spcAft>
                <a:spcPts val="600"/>
              </a:spcAft>
            </a:pPr>
            <a:r>
              <a:rPr lang="en-CA" sz="1200" dirty="0"/>
              <a:t>Pan, S., &amp; Duraisamy, K. (2020). On the structure of time-delay embedding in linear models of non-linear dynamical systems. </a:t>
            </a:r>
            <a:r>
              <a:rPr lang="en-CA" sz="1200" i="1" dirty="0"/>
              <a:t>arXiv</a:t>
            </a:r>
            <a:r>
              <a:rPr lang="en-CA" sz="1200" dirty="0"/>
              <a:t>:1902.05198.</a:t>
            </a:r>
          </a:p>
          <a:p>
            <a:pPr marL="457200" indent="-457200">
              <a:spcAft>
                <a:spcPts val="600"/>
              </a:spcAft>
            </a:pPr>
            <a:r>
              <a:rPr lang="en-CA" sz="1200" dirty="0"/>
              <a:t>Pang, J. C., Aquino, K. M., Oldehinkel, M., Robinson, P. A., Fulcher, B. D., Breakspear, M., &amp; Fornito, A. (2023). Geometric constraints on human brain function. </a:t>
            </a:r>
            <a:r>
              <a:rPr lang="en-CA" sz="1200" i="1" dirty="0"/>
              <a:t>Nature, 618</a:t>
            </a:r>
            <a:r>
              <a:rPr lang="en-CA" sz="1200" dirty="0"/>
              <a:t>, 566–574. https://doi.org/10.1038/s41586-023-06098-1</a:t>
            </a:r>
          </a:p>
          <a:p>
            <a:pPr marL="457200" indent="-457200">
              <a:spcAft>
                <a:spcPts val="600"/>
              </a:spcAft>
            </a:pPr>
            <a:r>
              <a:rPr lang="en-CA" sz="1200" dirty="0"/>
              <a:t>Ramezanian-Panahi, M., Abrevaya, G., Gagnon-Audet, J.-C., Voleti, V., Rish, I., &amp; Dumas, G. (2021). Generative models of brain dynamics: A review. </a:t>
            </a:r>
            <a:r>
              <a:rPr lang="en-CA" sz="1200" i="1" dirty="0"/>
              <a:t>arXiv</a:t>
            </a:r>
            <a:r>
              <a:rPr lang="en-CA" sz="1200" dirty="0"/>
              <a:t>:2112.12147.</a:t>
            </a:r>
          </a:p>
          <a:p>
            <a:pPr marL="457200" indent="-457200">
              <a:spcAft>
                <a:spcPts val="600"/>
              </a:spcAft>
            </a:pPr>
            <a:r>
              <a:rPr lang="en-CA" sz="1200" dirty="0"/>
              <a:t>Torres, F. A., Weinstein, A., Cortes, J. M., &amp; El-Deredy, W. (2025). Intrinsic resonance depends on network size of coupled-delayed interacting oscillators. </a:t>
            </a:r>
            <a:r>
              <a:rPr lang="en-CA" sz="1200" i="1" dirty="0"/>
              <a:t>arXiv</a:t>
            </a:r>
            <a:r>
              <a:rPr lang="en-CA" sz="1200" dirty="0"/>
              <a:t>:2511.14065.</a:t>
            </a:r>
          </a:p>
          <a:p>
            <a:pPr marL="457200" indent="-457200">
              <a:spcAft>
                <a:spcPts val="600"/>
              </a:spcAft>
            </a:pPr>
            <a:r>
              <a:rPr lang="en-CA" sz="1200" dirty="0"/>
              <a:t>Trinh, H., Nam, P. T., &amp; Nguyen, T. N. (2026). Time-delay compensators for linear systems with delayed output measurements. </a:t>
            </a:r>
            <a:r>
              <a:rPr lang="en-CA" sz="1200" i="1" dirty="0"/>
              <a:t>arXiv</a:t>
            </a:r>
            <a:r>
              <a:rPr lang="en-CA" sz="1200" dirty="0"/>
              <a:t>:2604.17434.</a:t>
            </a:r>
          </a:p>
          <a:p>
            <a:pPr marL="457200" indent="-457200">
              <a:spcAft>
                <a:spcPts val="600"/>
              </a:spcAft>
            </a:pPr>
            <a:r>
              <a:rPr lang="en-CA" sz="1200" dirty="0"/>
              <a:t>Van Essen, D. C., Smith, S. M., Barch, D. M., Behrens, T. E. J., Yacoub, E., Ugurbil, K., &amp; WU-Minn HCP Consortium. (2013). The WU-Minn Human Connectome Project: An overview. </a:t>
            </a:r>
            <a:r>
              <a:rPr lang="en-CA" sz="1200" i="1" dirty="0"/>
              <a:t>NeuroImage, 80</a:t>
            </a:r>
            <a:r>
              <a:rPr lang="en-CA" sz="1200" dirty="0"/>
              <a:t>, 62–79. https://doi.org/10.1016/j.neuroimage.2013.05.041</a:t>
            </a:r>
          </a:p>
          <a:p>
            <a:pPr marL="457200" indent="-457200">
              <a:spcAft>
                <a:spcPts val="600"/>
              </a:spcAft>
            </a:pPr>
            <a:r>
              <a:rPr lang="en-CA" sz="1200" dirty="0"/>
              <a:t>Vohryzek, J., Sanz-Perl, Y., Kringelbach, M. L., &amp; Deco, G. (2025). Human brain dynamics are shaped by rare long-range connections over and above cortical geometry. </a:t>
            </a:r>
            <a:r>
              <a:rPr lang="en-CA" sz="1200" i="1" dirty="0"/>
              <a:t>Proceedings of the National Academy of Sciences, 122</a:t>
            </a:r>
            <a:r>
              <a:rPr lang="en-CA" sz="1200" dirty="0"/>
              <a:t>(1), e2415102122. https://doi.org/10.1073/pnas.2415102122</a:t>
            </a:r>
          </a:p>
          <a:p>
            <a:pPr marL="457200" indent="-457200">
              <a:spcAft>
                <a:spcPts val="600"/>
              </a:spcAft>
            </a:pPr>
            <a:r>
              <a:rPr lang="en-CA" sz="1200" dirty="0"/>
              <a:t>Xie, X., Cai, C., Damasceno, P. F., Nagarajan, S. S., &amp; Raj, A. (2021). Emergence of canonical functional networks from the structural connectome. </a:t>
            </a:r>
            <a:r>
              <a:rPr lang="en-CA" sz="1200" i="1" dirty="0"/>
              <a:t>NeuroImage, 237</a:t>
            </a:r>
            <a:r>
              <a:rPr lang="en-CA" sz="1200" dirty="0"/>
              <a:t>, 118190. https://doi.org/10.1016/j.neuroimage.2021.118190</a:t>
            </a:r>
          </a:p>
        </p:txBody>
      </p:sp>
    </p:spTree>
    <p:extLst>
      <p:ext uri="{BB962C8B-B14F-4D97-AF65-F5344CB8AC3E}">
        <p14:creationId xmlns:p14="http://schemas.microsoft.com/office/powerpoint/2010/main" val="1947912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AEA955708D4E429970F2375876EBC9" ma:contentTypeVersion="18" ma:contentTypeDescription="Create a new document." ma:contentTypeScope="" ma:versionID="ed59e4e610f78e714a3da3190ba0d38d">
  <xsd:schema xmlns:xsd="http://www.w3.org/2001/XMLSchema" xmlns:xs="http://www.w3.org/2001/XMLSchema" xmlns:p="http://schemas.microsoft.com/office/2006/metadata/properties" xmlns:ns3="42964533-f5b7-406b-b421-19e3541ef143" xmlns:ns4="37f2b9ec-19cd-4d0a-bc05-c4fdd108412d" targetNamespace="http://schemas.microsoft.com/office/2006/metadata/properties" ma:root="true" ma:fieldsID="581b65382d95625666e0943edc29bbb4" ns3:_="" ns4:_="">
    <xsd:import namespace="42964533-f5b7-406b-b421-19e3541ef143"/>
    <xsd:import namespace="37f2b9ec-19cd-4d0a-bc05-c4fdd108412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964533-f5b7-406b-b421-19e3541ef1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7f2b9ec-19cd-4d0a-bc05-c4fdd10841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2964533-f5b7-406b-b421-19e3541ef143" xsi:nil="true"/>
  </documentManagement>
</p:properties>
</file>

<file path=customXml/itemProps1.xml><?xml version="1.0" encoding="utf-8"?>
<ds:datastoreItem xmlns:ds="http://schemas.openxmlformats.org/officeDocument/2006/customXml" ds:itemID="{55974CFB-774E-4D14-A71A-D6F92D6384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964533-f5b7-406b-b421-19e3541ef143"/>
    <ds:schemaRef ds:uri="37f2b9ec-19cd-4d0a-bc05-c4fdd10841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6F990E-0F49-46D2-8559-D029B0880075}">
  <ds:schemaRefs>
    <ds:schemaRef ds:uri="http://schemas.microsoft.com/sharepoint/v3/contenttype/forms"/>
  </ds:schemaRefs>
</ds:datastoreItem>
</file>

<file path=customXml/itemProps3.xml><?xml version="1.0" encoding="utf-8"?>
<ds:datastoreItem xmlns:ds="http://schemas.openxmlformats.org/officeDocument/2006/customXml" ds:itemID="{918EB151-00B8-4050-9595-E6C944C5EC3B}">
  <ds:schemaRefs>
    <ds:schemaRef ds:uri="http://schemas.openxmlformats.org/package/2006/metadata/core-properties"/>
    <ds:schemaRef ds:uri="http://purl.org/dc/elements/1.1/"/>
    <ds:schemaRef ds:uri="37f2b9ec-19cd-4d0a-bc05-c4fdd108412d"/>
    <ds:schemaRef ds:uri="http://schemas.microsoft.com/office/2006/documentManagement/types"/>
    <ds:schemaRef ds:uri="http://www.w3.org/XML/1998/namespace"/>
    <ds:schemaRef ds:uri="http://purl.org/dc/terms/"/>
    <ds:schemaRef ds:uri="http://purl.org/dc/dcmitype/"/>
    <ds:schemaRef ds:uri="http://schemas.microsoft.com/office/2006/metadata/properties"/>
    <ds:schemaRef ds:uri="http://schemas.microsoft.com/office/infopath/2007/PartnerControls"/>
    <ds:schemaRef ds:uri="42964533-f5b7-406b-b421-19e3541ef143"/>
  </ds:schemaRefs>
</ds:datastoreItem>
</file>

<file path=docProps/app.xml><?xml version="1.0" encoding="utf-8"?>
<Properties xmlns="http://schemas.openxmlformats.org/officeDocument/2006/extended-properties" xmlns:vt="http://schemas.openxmlformats.org/officeDocument/2006/docPropsVTypes">
  <TotalTime>1094</TotalTime>
  <Words>2412</Words>
  <Application>Microsoft Office PowerPoint</Application>
  <PresentationFormat>Widescreen</PresentationFormat>
  <Paragraphs>149</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Cambria</vt:lpstr>
      <vt:lpstr>Office Theme</vt:lpstr>
      <vt:lpstr>Project Update</vt:lpstr>
      <vt:lpstr>PowerPoint Presentation</vt:lpstr>
      <vt:lpstr>PowerPoint Presentation</vt:lpstr>
      <vt:lpstr>Long-Range FC Reconstruction</vt:lpstr>
      <vt:lpstr>Task-Activity Reconstruction</vt:lpstr>
      <vt:lpstr>Per-Task Advantage over Geometry</vt:lpstr>
      <vt:lpstr>Per-Task Advantage over Geometry</vt:lpstr>
      <vt:lpstr>Per-Subject vs. Group-Averaged Reconstruction</vt:lpstr>
      <vt:lpstr>Potential Next Step: Option 1. Integration</vt:lpstr>
      <vt:lpstr>Other options for Option 1</vt:lpstr>
      <vt:lpstr>Alternative Paths</vt:lpstr>
      <vt:lpstr>Alternative Paths</vt:lpstr>
      <vt:lpstr>Option 2. Delay as a Feature: Simulation</vt:lpstr>
      <vt:lpstr>References</vt:lpstr>
      <vt:lpstr>References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Majak, Gop</dc:creator>
  <cp:lastModifiedBy>Majak, Gop</cp:lastModifiedBy>
  <cp:revision>7</cp:revision>
  <dcterms:created xsi:type="dcterms:W3CDTF">2026-09-23T06:51:54Z</dcterms:created>
  <dcterms:modified xsi:type="dcterms:W3CDTF">2026-09-25T00:52:21Z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0x0101005CAEA955708D4E429970F2375876EBC9</vt:lpwstr>
  </property>
</Properties>
</file>